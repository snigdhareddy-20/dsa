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4689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C7AFB-11CD-3550-C193-C577A8ABC5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A70C3A-A122-77C6-3EBF-965D7D1DC63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0973E5C-30FC-FE0C-79BF-9DCF8A7DD2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7F52E9-B76B-C74C-5FE6-10426E741290}"/>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5649786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flipV="1">
            <a:off x="8467344" y="1179576"/>
            <a:ext cx="1609344" cy="795528"/>
          </a:xfrm>
          <a:prstGeom prst="line">
            <a:avLst/>
          </a:prstGeom>
          <a:noFill/>
          <a:ln w="15875">
            <a:solidFill>
              <a:srgbClr val="CFE8EF">
                <a:alpha val="45000"/>
              </a:srgbClr>
            </a:solidFill>
            <a:prstDash val="solid"/>
          </a:ln>
        </p:spPr>
        <p:txBody>
          <a:bodyPr/>
          <a:lstStyle/>
          <a:p>
            <a:endParaRPr lang="en-IN"/>
          </a:p>
        </p:txBody>
      </p:sp>
      <p:sp>
        <p:nvSpPr>
          <p:cNvPr id="3" name="Shape 1"/>
          <p:cNvSpPr/>
          <p:nvPr/>
        </p:nvSpPr>
        <p:spPr>
          <a:xfrm>
            <a:off x="10076688" y="1179576"/>
            <a:ext cx="1408176" cy="1325880"/>
          </a:xfrm>
          <a:prstGeom prst="line">
            <a:avLst/>
          </a:prstGeom>
          <a:noFill/>
          <a:ln w="15875">
            <a:solidFill>
              <a:srgbClr val="CFE8EF">
                <a:alpha val="45000"/>
              </a:srgbClr>
            </a:solidFill>
            <a:prstDash val="solid"/>
          </a:ln>
        </p:spPr>
        <p:txBody>
          <a:bodyPr/>
          <a:lstStyle/>
          <a:p>
            <a:endParaRPr lang="en-IN"/>
          </a:p>
        </p:txBody>
      </p:sp>
      <p:sp>
        <p:nvSpPr>
          <p:cNvPr id="4" name="Shape 2"/>
          <p:cNvSpPr/>
          <p:nvPr/>
        </p:nvSpPr>
        <p:spPr>
          <a:xfrm>
            <a:off x="8467344" y="1975104"/>
            <a:ext cx="804672" cy="1856232"/>
          </a:xfrm>
          <a:prstGeom prst="line">
            <a:avLst/>
          </a:prstGeom>
          <a:noFill/>
          <a:ln w="15875">
            <a:solidFill>
              <a:srgbClr val="CFE8EF">
                <a:alpha val="45000"/>
              </a:srgbClr>
            </a:solidFill>
            <a:prstDash val="solid"/>
          </a:ln>
        </p:spPr>
        <p:txBody>
          <a:bodyPr/>
          <a:lstStyle/>
          <a:p>
            <a:endParaRPr lang="en-IN"/>
          </a:p>
        </p:txBody>
      </p:sp>
      <p:sp>
        <p:nvSpPr>
          <p:cNvPr id="5" name="Shape 3"/>
          <p:cNvSpPr/>
          <p:nvPr/>
        </p:nvSpPr>
        <p:spPr>
          <a:xfrm>
            <a:off x="9272016" y="3831336"/>
            <a:ext cx="1609344" cy="530352"/>
          </a:xfrm>
          <a:prstGeom prst="line">
            <a:avLst/>
          </a:prstGeom>
          <a:noFill/>
          <a:ln w="15875">
            <a:solidFill>
              <a:srgbClr val="CFE8EF">
                <a:alpha val="45000"/>
              </a:srgbClr>
            </a:solidFill>
            <a:prstDash val="solid"/>
          </a:ln>
        </p:spPr>
        <p:txBody>
          <a:bodyPr/>
          <a:lstStyle/>
          <a:p>
            <a:endParaRPr lang="en-IN"/>
          </a:p>
        </p:txBody>
      </p:sp>
      <p:sp>
        <p:nvSpPr>
          <p:cNvPr id="6" name="Shape 4"/>
          <p:cNvSpPr/>
          <p:nvPr/>
        </p:nvSpPr>
        <p:spPr>
          <a:xfrm>
            <a:off x="10076688" y="1179576"/>
            <a:ext cx="804672" cy="3182112"/>
          </a:xfrm>
          <a:prstGeom prst="line">
            <a:avLst/>
          </a:prstGeom>
          <a:noFill/>
          <a:ln w="15875">
            <a:solidFill>
              <a:srgbClr val="CFE8EF">
                <a:alpha val="45000"/>
              </a:srgbClr>
            </a:solidFill>
            <a:prstDash val="solid"/>
          </a:ln>
        </p:spPr>
        <p:txBody>
          <a:bodyPr/>
          <a:lstStyle/>
          <a:p>
            <a:endParaRPr lang="en-IN"/>
          </a:p>
        </p:txBody>
      </p:sp>
      <p:sp>
        <p:nvSpPr>
          <p:cNvPr id="7" name="Shape 5"/>
          <p:cNvSpPr/>
          <p:nvPr/>
        </p:nvSpPr>
        <p:spPr>
          <a:xfrm flipH="1">
            <a:off x="8266176" y="3831336"/>
            <a:ext cx="1005840" cy="1060704"/>
          </a:xfrm>
          <a:prstGeom prst="line">
            <a:avLst/>
          </a:prstGeom>
          <a:noFill/>
          <a:ln w="15875">
            <a:solidFill>
              <a:srgbClr val="CFE8EF">
                <a:alpha val="45000"/>
              </a:srgbClr>
            </a:solidFill>
            <a:prstDash val="solid"/>
          </a:ln>
        </p:spPr>
        <p:txBody>
          <a:bodyPr/>
          <a:lstStyle/>
          <a:p>
            <a:endParaRPr lang="en-IN"/>
          </a:p>
        </p:txBody>
      </p:sp>
      <p:sp>
        <p:nvSpPr>
          <p:cNvPr id="8" name="Shape 6"/>
          <p:cNvSpPr/>
          <p:nvPr/>
        </p:nvSpPr>
        <p:spPr>
          <a:xfrm flipH="1">
            <a:off x="10076688" y="4361688"/>
            <a:ext cx="804672" cy="1591056"/>
          </a:xfrm>
          <a:prstGeom prst="line">
            <a:avLst/>
          </a:prstGeom>
          <a:noFill/>
          <a:ln w="15875">
            <a:solidFill>
              <a:srgbClr val="CFE8EF">
                <a:alpha val="45000"/>
              </a:srgbClr>
            </a:solidFill>
            <a:prstDash val="solid"/>
          </a:ln>
        </p:spPr>
        <p:txBody>
          <a:bodyPr/>
          <a:lstStyle/>
          <a:p>
            <a:endParaRPr lang="en-IN"/>
          </a:p>
        </p:txBody>
      </p:sp>
      <p:sp>
        <p:nvSpPr>
          <p:cNvPr id="9" name="Shape 7"/>
          <p:cNvSpPr/>
          <p:nvPr/>
        </p:nvSpPr>
        <p:spPr>
          <a:xfrm>
            <a:off x="8266176" y="4892040"/>
            <a:ext cx="1810512" cy="1060704"/>
          </a:xfrm>
          <a:prstGeom prst="line">
            <a:avLst/>
          </a:prstGeom>
          <a:noFill/>
          <a:ln w="15875">
            <a:solidFill>
              <a:srgbClr val="CFE8EF">
                <a:alpha val="45000"/>
              </a:srgbClr>
            </a:solidFill>
            <a:prstDash val="solid"/>
          </a:ln>
        </p:spPr>
        <p:txBody>
          <a:bodyPr/>
          <a:lstStyle/>
          <a:p>
            <a:endParaRPr lang="en-IN"/>
          </a:p>
        </p:txBody>
      </p:sp>
      <p:sp>
        <p:nvSpPr>
          <p:cNvPr id="10" name="Shape 8"/>
          <p:cNvSpPr/>
          <p:nvPr/>
        </p:nvSpPr>
        <p:spPr>
          <a:xfrm flipH="1">
            <a:off x="10881360" y="2505456"/>
            <a:ext cx="603504" cy="1856232"/>
          </a:xfrm>
          <a:prstGeom prst="line">
            <a:avLst/>
          </a:prstGeom>
          <a:noFill/>
          <a:ln w="15875">
            <a:solidFill>
              <a:srgbClr val="CFE8EF">
                <a:alpha val="45000"/>
              </a:srgbClr>
            </a:solidFill>
            <a:prstDash val="solid"/>
          </a:ln>
        </p:spPr>
        <p:txBody>
          <a:bodyPr/>
          <a:lstStyle/>
          <a:p>
            <a:endParaRPr lang="en-IN"/>
          </a:p>
        </p:txBody>
      </p:sp>
      <p:sp>
        <p:nvSpPr>
          <p:cNvPr id="11" name="Shape 9"/>
          <p:cNvSpPr/>
          <p:nvPr/>
        </p:nvSpPr>
        <p:spPr>
          <a:xfrm>
            <a:off x="8394192" y="1901952"/>
            <a:ext cx="146304" cy="146304"/>
          </a:xfrm>
          <a:prstGeom prst="ellipse">
            <a:avLst/>
          </a:prstGeom>
          <a:solidFill>
            <a:srgbClr val="1C7293"/>
          </a:solidFill>
          <a:ln w="19050">
            <a:solidFill>
              <a:srgbClr val="FFFFFF"/>
            </a:solidFill>
            <a:prstDash val="solid"/>
          </a:ln>
        </p:spPr>
        <p:txBody>
          <a:bodyPr/>
          <a:lstStyle/>
          <a:p>
            <a:endParaRPr lang="en-IN"/>
          </a:p>
        </p:txBody>
      </p:sp>
      <p:sp>
        <p:nvSpPr>
          <p:cNvPr id="12" name="Shape 10"/>
          <p:cNvSpPr/>
          <p:nvPr/>
        </p:nvSpPr>
        <p:spPr>
          <a:xfrm>
            <a:off x="10003536" y="1106424"/>
            <a:ext cx="146304" cy="146304"/>
          </a:xfrm>
          <a:prstGeom prst="ellipse">
            <a:avLst/>
          </a:prstGeom>
          <a:solidFill>
            <a:srgbClr val="1C7293"/>
          </a:solidFill>
          <a:ln w="19050">
            <a:solidFill>
              <a:srgbClr val="FFFFFF"/>
            </a:solidFill>
            <a:prstDash val="solid"/>
          </a:ln>
        </p:spPr>
        <p:txBody>
          <a:bodyPr/>
          <a:lstStyle/>
          <a:p>
            <a:endParaRPr lang="en-IN"/>
          </a:p>
        </p:txBody>
      </p:sp>
      <p:sp>
        <p:nvSpPr>
          <p:cNvPr id="13" name="Shape 11"/>
          <p:cNvSpPr/>
          <p:nvPr/>
        </p:nvSpPr>
        <p:spPr>
          <a:xfrm>
            <a:off x="11411712" y="2432304"/>
            <a:ext cx="146304" cy="146304"/>
          </a:xfrm>
          <a:prstGeom prst="ellipse">
            <a:avLst/>
          </a:prstGeom>
          <a:solidFill>
            <a:srgbClr val="1C7293"/>
          </a:solidFill>
          <a:ln w="19050">
            <a:solidFill>
              <a:srgbClr val="FFFFFF"/>
            </a:solidFill>
            <a:prstDash val="solid"/>
          </a:ln>
        </p:spPr>
        <p:txBody>
          <a:bodyPr/>
          <a:lstStyle/>
          <a:p>
            <a:endParaRPr lang="en-IN"/>
          </a:p>
        </p:txBody>
      </p:sp>
      <p:sp>
        <p:nvSpPr>
          <p:cNvPr id="14" name="Shape 12"/>
          <p:cNvSpPr/>
          <p:nvPr/>
        </p:nvSpPr>
        <p:spPr>
          <a:xfrm>
            <a:off x="9198864" y="3758184"/>
            <a:ext cx="146304" cy="146304"/>
          </a:xfrm>
          <a:prstGeom prst="ellipse">
            <a:avLst/>
          </a:prstGeom>
          <a:solidFill>
            <a:srgbClr val="1C7293"/>
          </a:solidFill>
          <a:ln w="19050">
            <a:solidFill>
              <a:srgbClr val="FFFFFF"/>
            </a:solidFill>
            <a:prstDash val="solid"/>
          </a:ln>
        </p:spPr>
        <p:txBody>
          <a:bodyPr/>
          <a:lstStyle/>
          <a:p>
            <a:endParaRPr lang="en-IN"/>
          </a:p>
        </p:txBody>
      </p:sp>
      <p:sp>
        <p:nvSpPr>
          <p:cNvPr id="15" name="Shape 13"/>
          <p:cNvSpPr/>
          <p:nvPr/>
        </p:nvSpPr>
        <p:spPr>
          <a:xfrm>
            <a:off x="10808208" y="4288536"/>
            <a:ext cx="146304" cy="146304"/>
          </a:xfrm>
          <a:prstGeom prst="ellipse">
            <a:avLst/>
          </a:prstGeom>
          <a:solidFill>
            <a:srgbClr val="1C7293"/>
          </a:solidFill>
          <a:ln w="19050">
            <a:solidFill>
              <a:srgbClr val="FFFFFF"/>
            </a:solidFill>
            <a:prstDash val="solid"/>
          </a:ln>
        </p:spPr>
        <p:txBody>
          <a:bodyPr/>
          <a:lstStyle/>
          <a:p>
            <a:endParaRPr lang="en-IN"/>
          </a:p>
        </p:txBody>
      </p:sp>
      <p:sp>
        <p:nvSpPr>
          <p:cNvPr id="16" name="Shape 14"/>
          <p:cNvSpPr/>
          <p:nvPr/>
        </p:nvSpPr>
        <p:spPr>
          <a:xfrm>
            <a:off x="8193024" y="4818888"/>
            <a:ext cx="146304" cy="146304"/>
          </a:xfrm>
          <a:prstGeom prst="ellipse">
            <a:avLst/>
          </a:prstGeom>
          <a:solidFill>
            <a:srgbClr val="1C7293"/>
          </a:solidFill>
          <a:ln w="19050">
            <a:solidFill>
              <a:srgbClr val="FFFFFF"/>
            </a:solidFill>
            <a:prstDash val="solid"/>
          </a:ln>
        </p:spPr>
        <p:txBody>
          <a:bodyPr/>
          <a:lstStyle/>
          <a:p>
            <a:endParaRPr lang="en-IN"/>
          </a:p>
        </p:txBody>
      </p:sp>
      <p:sp>
        <p:nvSpPr>
          <p:cNvPr id="17" name="Shape 15"/>
          <p:cNvSpPr/>
          <p:nvPr/>
        </p:nvSpPr>
        <p:spPr>
          <a:xfrm>
            <a:off x="10003536" y="5879592"/>
            <a:ext cx="146304" cy="146304"/>
          </a:xfrm>
          <a:prstGeom prst="ellipse">
            <a:avLst/>
          </a:prstGeom>
          <a:solidFill>
            <a:srgbClr val="1C7293"/>
          </a:solidFill>
          <a:ln w="19050">
            <a:solidFill>
              <a:srgbClr val="FFFFFF"/>
            </a:solidFill>
            <a:prstDash val="solid"/>
          </a:ln>
        </p:spPr>
        <p:txBody>
          <a:bodyPr/>
          <a:lstStyle/>
          <a:p>
            <a:endParaRPr lang="en-IN"/>
          </a:p>
        </p:txBody>
      </p:sp>
      <p:sp>
        <p:nvSpPr>
          <p:cNvPr id="18" name="Text 16"/>
          <p:cNvSpPr/>
          <p:nvPr/>
        </p:nvSpPr>
        <p:spPr>
          <a:xfrm>
            <a:off x="640080" y="1051560"/>
            <a:ext cx="6035040" cy="365760"/>
          </a:xfrm>
          <a:prstGeom prst="rect">
            <a:avLst/>
          </a:prstGeom>
          <a:noFill/>
          <a:ln/>
        </p:spPr>
        <p:txBody>
          <a:bodyPr wrap="square" rtlCol="0" anchor="ctr"/>
          <a:lstStyle/>
          <a:p>
            <a:pPr marL="0" indent="0">
              <a:buNone/>
            </a:pPr>
            <a:r>
              <a:rPr lang="en-US" sz="1300" b="1" kern="0" spc="200" dirty="0">
                <a:solidFill>
                  <a:srgbClr val="CFE8EF"/>
                </a:solidFill>
                <a:latin typeface="Calibri" pitchFamily="34" charset="0"/>
                <a:ea typeface="Calibri" pitchFamily="34" charset="-122"/>
                <a:cs typeface="Calibri" pitchFamily="34" charset="-120"/>
              </a:rPr>
              <a:t>DSA-3 •  25CS2103E</a:t>
            </a:r>
            <a:endParaRPr lang="en-US" sz="1300" dirty="0"/>
          </a:p>
        </p:txBody>
      </p:sp>
      <p:sp>
        <p:nvSpPr>
          <p:cNvPr id="19" name="Text 17"/>
          <p:cNvSpPr/>
          <p:nvPr/>
        </p:nvSpPr>
        <p:spPr>
          <a:xfrm>
            <a:off x="640080" y="1508760"/>
            <a:ext cx="6309360" cy="1645920"/>
          </a:xfrm>
          <a:prstGeom prst="rect">
            <a:avLst/>
          </a:prstGeom>
          <a:noFill/>
          <a:ln/>
        </p:spPr>
        <p:txBody>
          <a:bodyPr wrap="square" rtlCol="0" anchor="t"/>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Community Detection Platform</a:t>
            </a:r>
            <a:endParaRPr lang="en-US" sz="4000" dirty="0"/>
          </a:p>
        </p:txBody>
      </p:sp>
      <p:sp>
        <p:nvSpPr>
          <p:cNvPr id="20" name="Text 18"/>
          <p:cNvSpPr/>
          <p:nvPr/>
        </p:nvSpPr>
        <p:spPr>
          <a:xfrm>
            <a:off x="640080" y="3063240"/>
            <a:ext cx="5943600" cy="731520"/>
          </a:xfrm>
          <a:prstGeom prst="rect">
            <a:avLst/>
          </a:prstGeom>
          <a:noFill/>
          <a:ln/>
        </p:spPr>
        <p:txBody>
          <a:bodyPr wrap="square" rtlCol="0" anchor="t"/>
          <a:lstStyle/>
          <a:p>
            <a:pPr marL="0" indent="0">
              <a:buNone/>
            </a:pPr>
            <a:r>
              <a:rPr lang="en-US" sz="1400" i="1" dirty="0">
                <a:solidFill>
                  <a:srgbClr val="CFE8EF"/>
                </a:solidFill>
                <a:latin typeface="Calibri" pitchFamily="34" charset="0"/>
                <a:ea typeface="Calibri" pitchFamily="34" charset="-122"/>
                <a:cs typeface="Calibri" pitchFamily="34" charset="-120"/>
              </a:rPr>
              <a:t>Discovering hidden groups in social and communication networks using graph-based Data Structures &amp; Algorithms</a:t>
            </a:r>
            <a:endParaRPr lang="en-US" sz="1400" dirty="0"/>
          </a:p>
        </p:txBody>
      </p:sp>
      <p:sp>
        <p:nvSpPr>
          <p:cNvPr id="21" name="Shape 19"/>
          <p:cNvSpPr/>
          <p:nvPr/>
        </p:nvSpPr>
        <p:spPr>
          <a:xfrm>
            <a:off x="640080" y="3977640"/>
            <a:ext cx="2926080" cy="0"/>
          </a:xfrm>
          <a:prstGeom prst="line">
            <a:avLst/>
          </a:prstGeom>
          <a:noFill/>
          <a:ln w="25400">
            <a:solidFill>
              <a:srgbClr val="1C7293"/>
            </a:solidFill>
            <a:prstDash val="solid"/>
          </a:ln>
        </p:spPr>
        <p:txBody>
          <a:bodyPr/>
          <a:lstStyle/>
          <a:p>
            <a:endParaRPr lang="en-IN"/>
          </a:p>
        </p:txBody>
      </p:sp>
      <p:sp>
        <p:nvSpPr>
          <p:cNvPr id="22" name="Text 20"/>
          <p:cNvSpPr/>
          <p:nvPr/>
        </p:nvSpPr>
        <p:spPr>
          <a:xfrm>
            <a:off x="640080" y="4160520"/>
            <a:ext cx="2743200" cy="274320"/>
          </a:xfrm>
          <a:prstGeom prst="rect">
            <a:avLst/>
          </a:prstGeom>
          <a:noFill/>
          <a:ln/>
        </p:spPr>
        <p:txBody>
          <a:bodyPr wrap="square" rtlCol="0" anchor="ctr"/>
          <a:lstStyle/>
          <a:p>
            <a:pPr marL="0" indent="0">
              <a:buNone/>
            </a:pPr>
            <a:r>
              <a:rPr lang="en-US" sz="1200" b="1" kern="0" spc="100" dirty="0">
                <a:solidFill>
                  <a:srgbClr val="1C7293"/>
                </a:solidFill>
                <a:latin typeface="Calibri" pitchFamily="34" charset="0"/>
                <a:ea typeface="Calibri" pitchFamily="34" charset="-122"/>
                <a:cs typeface="Calibri" pitchFamily="34" charset="-120"/>
              </a:rPr>
              <a:t>Submitted by</a:t>
            </a:r>
            <a:endParaRPr lang="en-US" sz="1200" dirty="0"/>
          </a:p>
        </p:txBody>
      </p:sp>
      <p:sp>
        <p:nvSpPr>
          <p:cNvPr id="23" name="Text 21"/>
          <p:cNvSpPr/>
          <p:nvPr/>
        </p:nvSpPr>
        <p:spPr>
          <a:xfrm>
            <a:off x="640080" y="4434840"/>
            <a:ext cx="2743200" cy="64008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G. SATWIKA</a:t>
            </a:r>
            <a:endParaRPr lang="en-US" sz="1500" dirty="0"/>
          </a:p>
          <a:p>
            <a:pPr marL="0" indent="0">
              <a:buNone/>
            </a:pPr>
            <a:r>
              <a:rPr lang="en-US" sz="1200" dirty="0">
                <a:solidFill>
                  <a:srgbClr val="CFE8EF"/>
                </a:solidFill>
                <a:latin typeface="Calibri" pitchFamily="34" charset="0"/>
                <a:ea typeface="Calibri" pitchFamily="34" charset="-122"/>
                <a:cs typeface="Calibri" pitchFamily="34" charset="-120"/>
              </a:rPr>
              <a:t>2520090111</a:t>
            </a:r>
            <a:endParaRPr lang="en-US" sz="1500" dirty="0"/>
          </a:p>
        </p:txBody>
      </p:sp>
      <p:sp>
        <p:nvSpPr>
          <p:cNvPr id="24" name="Text 22"/>
          <p:cNvSpPr/>
          <p:nvPr/>
        </p:nvSpPr>
        <p:spPr>
          <a:xfrm>
            <a:off x="3017520" y="4434840"/>
            <a:ext cx="2743200" cy="64008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B. SNIGDHA</a:t>
            </a:r>
            <a:endParaRPr lang="en-US" sz="1500" dirty="0"/>
          </a:p>
          <a:p>
            <a:pPr marL="0" indent="0">
              <a:buNone/>
            </a:pPr>
            <a:r>
              <a:rPr lang="en-US" sz="1200" dirty="0">
                <a:solidFill>
                  <a:srgbClr val="CFE8EF"/>
                </a:solidFill>
                <a:latin typeface="Calibri" pitchFamily="34" charset="0"/>
                <a:ea typeface="Calibri" pitchFamily="34" charset="-122"/>
                <a:cs typeface="Calibri" pitchFamily="34" charset="-120"/>
              </a:rPr>
              <a:t>2520090160</a:t>
            </a:r>
            <a:endParaRPr lang="en-US" sz="1500" dirty="0"/>
          </a:p>
        </p:txBody>
      </p:sp>
      <p:sp>
        <p:nvSpPr>
          <p:cNvPr id="25" name="Text 23"/>
          <p:cNvSpPr/>
          <p:nvPr/>
        </p:nvSpPr>
        <p:spPr>
          <a:xfrm>
            <a:off x="640080" y="5349240"/>
            <a:ext cx="5943600" cy="914400"/>
          </a:xfrm>
          <a:prstGeom prst="rect">
            <a:avLst/>
          </a:prstGeom>
          <a:noFill/>
          <a:ln/>
        </p:spPr>
        <p:txBody>
          <a:bodyPr wrap="square" rtlCol="0" anchor="t"/>
          <a:lstStyle/>
          <a:p>
            <a:pPr marL="0" indent="0">
              <a:lnSpc>
                <a:spcPct val="130000"/>
              </a:lnSpc>
              <a:buNone/>
            </a:pPr>
            <a:r>
              <a:rPr lang="en-US" sz="1200" dirty="0">
                <a:solidFill>
                  <a:srgbClr val="CFE8EF"/>
                </a:solidFill>
                <a:latin typeface="Calibri" pitchFamily="34" charset="0"/>
                <a:ea typeface="Calibri" pitchFamily="34" charset="-122"/>
                <a:cs typeface="Calibri" pitchFamily="34" charset="-120"/>
              </a:rPr>
              <a:t>Section: 10</a:t>
            </a:r>
            <a:endParaRPr lang="en-US" sz="1200" dirty="0"/>
          </a:p>
          <a:p>
            <a:pPr marL="0" indent="0">
              <a:lnSpc>
                <a:spcPct val="130000"/>
              </a:lnSpc>
              <a:buNone/>
            </a:pPr>
            <a:r>
              <a:rPr lang="en-US" sz="1200" dirty="0">
                <a:solidFill>
                  <a:srgbClr val="CFE8EF"/>
                </a:solidFill>
                <a:latin typeface="Calibri" pitchFamily="34" charset="0"/>
                <a:ea typeface="Calibri" pitchFamily="34" charset="-122"/>
                <a:cs typeface="Calibri" pitchFamily="34" charset="-120"/>
              </a:rPr>
              <a:t>Guide: Ms. K. Chandusha, Asst. Prof., CS&amp;IT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64008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Abstract</a:t>
            </a:r>
            <a:endParaRPr lang="en-US" sz="3200" dirty="0"/>
          </a:p>
        </p:txBody>
      </p:sp>
      <p:sp>
        <p:nvSpPr>
          <p:cNvPr id="3" name="Shape 1"/>
          <p:cNvSpPr/>
          <p:nvPr/>
        </p:nvSpPr>
        <p:spPr>
          <a:xfrm>
            <a:off x="658368" y="1097280"/>
            <a:ext cx="822960" cy="64008"/>
          </a:xfrm>
          <a:prstGeom prst="rect">
            <a:avLst/>
          </a:prstGeom>
          <a:solidFill>
            <a:srgbClr val="1C7293"/>
          </a:solidFill>
          <a:ln/>
        </p:spPr>
        <p:txBody>
          <a:bodyPr/>
          <a:lstStyle/>
          <a:p>
            <a:endParaRPr lang="en-IN"/>
          </a:p>
        </p:txBody>
      </p:sp>
      <p:sp>
        <p:nvSpPr>
          <p:cNvPr id="4" name="Shape 2"/>
          <p:cNvSpPr/>
          <p:nvPr/>
        </p:nvSpPr>
        <p:spPr>
          <a:xfrm>
            <a:off x="10012680" y="228600"/>
            <a:ext cx="1371600" cy="1371600"/>
          </a:xfrm>
          <a:prstGeom prst="ellipse">
            <a:avLst/>
          </a:prstGeom>
          <a:solidFill>
            <a:srgbClr val="065A82"/>
          </a:solidFill>
          <a:ln/>
        </p:spPr>
        <p:txBody>
          <a:bodyPr/>
          <a:lstStyle/>
          <a:p>
            <a:endParaRPr lang="en-IN"/>
          </a:p>
        </p:txBody>
      </p:sp>
      <p:pic>
        <p:nvPicPr>
          <p:cNvPr id="5" name="Image 0" descr="icons/search.png"/>
          <p:cNvPicPr>
            <a:picLocks noChangeAspect="1"/>
          </p:cNvPicPr>
          <p:nvPr/>
        </p:nvPicPr>
        <p:blipFill>
          <a:blip r:embed="rId3"/>
          <a:stretch>
            <a:fillRect/>
          </a:stretch>
        </p:blipFill>
        <p:spPr>
          <a:xfrm>
            <a:off x="10321290" y="537210"/>
            <a:ext cx="754380" cy="754380"/>
          </a:xfrm>
          <a:prstGeom prst="rect">
            <a:avLst/>
          </a:prstGeom>
        </p:spPr>
      </p:pic>
      <p:sp>
        <p:nvSpPr>
          <p:cNvPr id="6" name="Shape 3"/>
          <p:cNvSpPr/>
          <p:nvPr/>
        </p:nvSpPr>
        <p:spPr>
          <a:xfrm>
            <a:off x="640080" y="1463040"/>
            <a:ext cx="10881360" cy="4846320"/>
          </a:xfrm>
          <a:prstGeom prst="roundRect">
            <a:avLst>
              <a:gd name="adj" fmla="val 2264"/>
            </a:avLst>
          </a:prstGeom>
          <a:solidFill>
            <a:srgbClr val="FFFFFF"/>
          </a:solidFill>
          <a:ln w="12700">
            <a:solidFill>
              <a:srgbClr val="CFE8EF"/>
            </a:solidFill>
            <a:prstDash val="solid"/>
          </a:ln>
          <a:effectLst>
            <a:outerShdw blurRad="101600" dist="38100" dir="5400000" algn="bl" rotWithShape="0">
              <a:srgbClr val="8AA0AC">
                <a:alpha val="25000"/>
              </a:srgbClr>
            </a:outerShdw>
          </a:effectLst>
        </p:spPr>
        <p:txBody>
          <a:bodyPr/>
          <a:lstStyle/>
          <a:p>
            <a:endParaRPr lang="en-IN"/>
          </a:p>
        </p:txBody>
      </p:sp>
      <p:sp>
        <p:nvSpPr>
          <p:cNvPr id="7" name="Text 4"/>
          <p:cNvSpPr/>
          <p:nvPr/>
        </p:nvSpPr>
        <p:spPr>
          <a:xfrm>
            <a:off x="1051560" y="1783080"/>
            <a:ext cx="10058400" cy="4206240"/>
          </a:xfrm>
          <a:prstGeom prst="rect">
            <a:avLst/>
          </a:prstGeom>
          <a:noFill/>
          <a:ln/>
        </p:spPr>
        <p:txBody>
          <a:bodyPr wrap="square" rtlCol="0" anchor="t"/>
          <a:lstStyle/>
          <a:p>
            <a:pPr marL="0" indent="0">
              <a:lnSpc>
                <a:spcPct val="125000"/>
              </a:lnSpc>
              <a:spcAft>
                <a:spcPts val="800"/>
              </a:spcAft>
              <a:buNone/>
            </a:pPr>
            <a:r>
              <a:rPr lang="en-US" sz="1450" dirty="0">
                <a:solidFill>
                  <a:srgbClr val="1E2430"/>
                </a:solidFill>
                <a:latin typeface="Calibri" pitchFamily="34" charset="0"/>
                <a:ea typeface="Calibri" pitchFamily="34" charset="-122"/>
                <a:cs typeface="Calibri" pitchFamily="34" charset="-120"/>
              </a:rPr>
              <a:t>Social media and communication platforms generate a large amount of connected data every day. Understanding how people interact with each other is important for research, marketing, and online community management.</a:t>
            </a:r>
            <a:endParaRPr lang="en-US" sz="1450" dirty="0"/>
          </a:p>
          <a:p>
            <a:pPr marL="0" indent="0">
              <a:lnSpc>
                <a:spcPct val="125000"/>
              </a:lnSpc>
              <a:spcAft>
                <a:spcPts val="800"/>
              </a:spcAft>
              <a:buNone/>
            </a:pPr>
            <a:endParaRPr lang="en-US" sz="1450" dirty="0"/>
          </a:p>
          <a:p>
            <a:pPr marL="0" indent="0">
              <a:lnSpc>
                <a:spcPct val="125000"/>
              </a:lnSpc>
              <a:spcAft>
                <a:spcPts val="800"/>
              </a:spcAft>
              <a:buNone/>
            </a:pPr>
            <a:r>
              <a:rPr lang="en-US" sz="1450" dirty="0">
                <a:solidFill>
                  <a:srgbClr val="1E2430"/>
                </a:solidFill>
                <a:latin typeface="Calibri" pitchFamily="34" charset="0"/>
                <a:ea typeface="Calibri" pitchFamily="34" charset="-122"/>
                <a:cs typeface="Calibri" pitchFamily="34" charset="-120"/>
              </a:rPr>
              <a:t>This project develops a Community Detection Platform that represents users as nodes and their interactions as edges in a graph, applying graph traversal and community detection algorithms to identify groups of users who interact more frequently with each other than with others.</a:t>
            </a:r>
            <a:endParaRPr lang="en-US" sz="1450" dirty="0"/>
          </a:p>
          <a:p>
            <a:pPr marL="0" indent="0">
              <a:lnSpc>
                <a:spcPct val="125000"/>
              </a:lnSpc>
              <a:spcAft>
                <a:spcPts val="800"/>
              </a:spcAft>
              <a:buNone/>
            </a:pPr>
            <a:endParaRPr lang="en-US" sz="1450" dirty="0"/>
          </a:p>
          <a:p>
            <a:pPr marL="0" indent="0">
              <a:lnSpc>
                <a:spcPct val="125000"/>
              </a:lnSpc>
              <a:spcAft>
                <a:spcPts val="800"/>
              </a:spcAft>
              <a:buNone/>
            </a:pPr>
            <a:r>
              <a:rPr lang="en-US" sz="1450" dirty="0">
                <a:solidFill>
                  <a:srgbClr val="1E2430"/>
                </a:solidFill>
                <a:latin typeface="Calibri" pitchFamily="34" charset="0"/>
                <a:ea typeface="Calibri" pitchFamily="34" charset="-122"/>
                <a:cs typeface="Calibri" pitchFamily="34" charset="-120"/>
              </a:rPr>
              <a:t>A weighted interaction graph is built, where edge weight reflects relationship strength based on messages, likes, comments, or other interactions. Detected communities are shown with quality metrics such as community count, community size, and interaction strength — supporting social network analysis, recommendations, and targeted marketing.</a:t>
            </a:r>
            <a:endParaRPr lang="en-US" sz="1450" dirty="0"/>
          </a:p>
        </p:txBody>
      </p:sp>
      <p:sp>
        <p:nvSpPr>
          <p:cNvPr id="8" name="Shape 5"/>
          <p:cNvSpPr/>
          <p:nvPr/>
        </p:nvSpPr>
        <p:spPr>
          <a:xfrm>
            <a:off x="1051560" y="5742432"/>
            <a:ext cx="2377440" cy="384048"/>
          </a:xfrm>
          <a:prstGeom prst="roundRect">
            <a:avLst>
              <a:gd name="adj" fmla="val 50000"/>
            </a:avLst>
          </a:prstGeom>
          <a:solidFill>
            <a:srgbClr val="CFE8EF"/>
          </a:solidFill>
          <a:ln/>
        </p:spPr>
        <p:txBody>
          <a:bodyPr/>
          <a:lstStyle/>
          <a:p>
            <a:endParaRPr lang="en-IN"/>
          </a:p>
        </p:txBody>
      </p:sp>
      <p:sp>
        <p:nvSpPr>
          <p:cNvPr id="9" name="Text 6"/>
          <p:cNvSpPr/>
          <p:nvPr/>
        </p:nvSpPr>
        <p:spPr>
          <a:xfrm>
            <a:off x="1051560" y="5742432"/>
            <a:ext cx="2377440" cy="384048"/>
          </a:xfrm>
          <a:prstGeom prst="rect">
            <a:avLst/>
          </a:prstGeom>
          <a:noFill/>
          <a:ln/>
        </p:spPr>
        <p:txBody>
          <a:bodyPr wrap="square" rtlCol="0" anchor="ctr"/>
          <a:lstStyle/>
          <a:p>
            <a:pPr marL="0" indent="0" algn="ctr">
              <a:buNone/>
            </a:pPr>
            <a:r>
              <a:rPr lang="en-US" sz="1100" b="1" dirty="0">
                <a:solidFill>
                  <a:srgbClr val="065A82"/>
                </a:solidFill>
                <a:latin typeface="Calibri" pitchFamily="34" charset="0"/>
                <a:ea typeface="Calibri" pitchFamily="34" charset="-122"/>
                <a:cs typeface="Calibri" pitchFamily="34" charset="-120"/>
              </a:rPr>
              <a:t>Graphs</a:t>
            </a:r>
            <a:endParaRPr lang="en-US" sz="1100" dirty="0"/>
          </a:p>
        </p:txBody>
      </p:sp>
      <p:sp>
        <p:nvSpPr>
          <p:cNvPr id="10" name="Shape 7"/>
          <p:cNvSpPr/>
          <p:nvPr/>
        </p:nvSpPr>
        <p:spPr>
          <a:xfrm>
            <a:off x="3657600" y="5742432"/>
            <a:ext cx="2377440" cy="384048"/>
          </a:xfrm>
          <a:prstGeom prst="roundRect">
            <a:avLst>
              <a:gd name="adj" fmla="val 50000"/>
            </a:avLst>
          </a:prstGeom>
          <a:solidFill>
            <a:srgbClr val="CFE8EF"/>
          </a:solidFill>
          <a:ln/>
        </p:spPr>
        <p:txBody>
          <a:bodyPr/>
          <a:lstStyle/>
          <a:p>
            <a:endParaRPr lang="en-IN"/>
          </a:p>
        </p:txBody>
      </p:sp>
      <p:sp>
        <p:nvSpPr>
          <p:cNvPr id="11" name="Text 8"/>
          <p:cNvSpPr/>
          <p:nvPr/>
        </p:nvSpPr>
        <p:spPr>
          <a:xfrm>
            <a:off x="3657600" y="5742432"/>
            <a:ext cx="2377440" cy="384048"/>
          </a:xfrm>
          <a:prstGeom prst="rect">
            <a:avLst/>
          </a:prstGeom>
          <a:noFill/>
          <a:ln/>
        </p:spPr>
        <p:txBody>
          <a:bodyPr wrap="square" rtlCol="0" anchor="ctr"/>
          <a:lstStyle/>
          <a:p>
            <a:pPr marL="0" indent="0" algn="ctr">
              <a:buNone/>
            </a:pPr>
            <a:r>
              <a:rPr lang="en-US" sz="1100" b="1" dirty="0">
                <a:solidFill>
                  <a:srgbClr val="065A82"/>
                </a:solidFill>
                <a:latin typeface="Calibri" pitchFamily="34" charset="0"/>
                <a:ea typeface="Calibri" pitchFamily="34" charset="-122"/>
                <a:cs typeface="Calibri" pitchFamily="34" charset="-120"/>
              </a:rPr>
              <a:t>Community Detection</a:t>
            </a:r>
            <a:endParaRPr lang="en-US" sz="1100" dirty="0"/>
          </a:p>
        </p:txBody>
      </p:sp>
      <p:sp>
        <p:nvSpPr>
          <p:cNvPr id="12" name="Shape 9"/>
          <p:cNvSpPr/>
          <p:nvPr/>
        </p:nvSpPr>
        <p:spPr>
          <a:xfrm>
            <a:off x="6263640" y="5742432"/>
            <a:ext cx="2377440" cy="384048"/>
          </a:xfrm>
          <a:prstGeom prst="roundRect">
            <a:avLst>
              <a:gd name="adj" fmla="val 50000"/>
            </a:avLst>
          </a:prstGeom>
          <a:solidFill>
            <a:srgbClr val="CFE8EF"/>
          </a:solidFill>
          <a:ln/>
        </p:spPr>
        <p:txBody>
          <a:bodyPr/>
          <a:lstStyle/>
          <a:p>
            <a:endParaRPr lang="en-IN"/>
          </a:p>
        </p:txBody>
      </p:sp>
      <p:sp>
        <p:nvSpPr>
          <p:cNvPr id="13" name="Text 10"/>
          <p:cNvSpPr/>
          <p:nvPr/>
        </p:nvSpPr>
        <p:spPr>
          <a:xfrm>
            <a:off x="6263640" y="5742432"/>
            <a:ext cx="2377440" cy="384048"/>
          </a:xfrm>
          <a:prstGeom prst="rect">
            <a:avLst/>
          </a:prstGeom>
          <a:noFill/>
          <a:ln/>
        </p:spPr>
        <p:txBody>
          <a:bodyPr wrap="square" rtlCol="0" anchor="ctr"/>
          <a:lstStyle/>
          <a:p>
            <a:pPr marL="0" indent="0" algn="ctr">
              <a:buNone/>
            </a:pPr>
            <a:r>
              <a:rPr lang="en-US" sz="1100" b="1" dirty="0">
                <a:solidFill>
                  <a:srgbClr val="065A82"/>
                </a:solidFill>
                <a:latin typeface="Calibri" pitchFamily="34" charset="0"/>
                <a:ea typeface="Calibri" pitchFamily="34" charset="-122"/>
                <a:cs typeface="Calibri" pitchFamily="34" charset="-120"/>
              </a:rPr>
              <a:t>Weighted Edges</a:t>
            </a:r>
            <a:endParaRPr lang="en-US" sz="1100" dirty="0"/>
          </a:p>
        </p:txBody>
      </p:sp>
      <p:sp>
        <p:nvSpPr>
          <p:cNvPr id="14" name="Shape 11"/>
          <p:cNvSpPr/>
          <p:nvPr/>
        </p:nvSpPr>
        <p:spPr>
          <a:xfrm>
            <a:off x="8869680" y="5742432"/>
            <a:ext cx="2377440" cy="384048"/>
          </a:xfrm>
          <a:prstGeom prst="roundRect">
            <a:avLst>
              <a:gd name="adj" fmla="val 50000"/>
            </a:avLst>
          </a:prstGeom>
          <a:solidFill>
            <a:srgbClr val="CFE8EF"/>
          </a:solidFill>
          <a:ln/>
        </p:spPr>
        <p:txBody>
          <a:bodyPr/>
          <a:lstStyle/>
          <a:p>
            <a:endParaRPr lang="en-IN"/>
          </a:p>
        </p:txBody>
      </p:sp>
      <p:sp>
        <p:nvSpPr>
          <p:cNvPr id="15" name="Text 12"/>
          <p:cNvSpPr/>
          <p:nvPr/>
        </p:nvSpPr>
        <p:spPr>
          <a:xfrm>
            <a:off x="8869680" y="5742432"/>
            <a:ext cx="2377440" cy="384048"/>
          </a:xfrm>
          <a:prstGeom prst="rect">
            <a:avLst/>
          </a:prstGeom>
          <a:noFill/>
          <a:ln/>
        </p:spPr>
        <p:txBody>
          <a:bodyPr wrap="square" rtlCol="0" anchor="ctr"/>
          <a:lstStyle/>
          <a:p>
            <a:pPr marL="0" indent="0" algn="ctr">
              <a:buNone/>
            </a:pPr>
            <a:r>
              <a:rPr lang="en-US" sz="1100" b="1" dirty="0">
                <a:solidFill>
                  <a:srgbClr val="065A82"/>
                </a:solidFill>
                <a:latin typeface="Calibri" pitchFamily="34" charset="0"/>
                <a:ea typeface="Calibri" pitchFamily="34" charset="-122"/>
                <a:cs typeface="Calibri" pitchFamily="34" charset="-120"/>
              </a:rPr>
              <a:t>Network Analysis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64008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Introduction</a:t>
            </a:r>
            <a:endParaRPr lang="en-US" sz="3200" dirty="0"/>
          </a:p>
        </p:txBody>
      </p:sp>
      <p:sp>
        <p:nvSpPr>
          <p:cNvPr id="3" name="Shape 1"/>
          <p:cNvSpPr/>
          <p:nvPr/>
        </p:nvSpPr>
        <p:spPr>
          <a:xfrm>
            <a:off x="658368" y="1097280"/>
            <a:ext cx="822960" cy="64008"/>
          </a:xfrm>
          <a:prstGeom prst="rect">
            <a:avLst/>
          </a:prstGeom>
          <a:solidFill>
            <a:srgbClr val="1C7293"/>
          </a:solidFill>
          <a:ln/>
        </p:spPr>
        <p:txBody>
          <a:bodyPr/>
          <a:lstStyle/>
          <a:p>
            <a:endParaRPr lang="en-IN"/>
          </a:p>
        </p:txBody>
      </p:sp>
      <p:sp>
        <p:nvSpPr>
          <p:cNvPr id="4" name="Shape 2"/>
          <p:cNvSpPr/>
          <p:nvPr/>
        </p:nvSpPr>
        <p:spPr>
          <a:xfrm>
            <a:off x="7406640" y="1371600"/>
            <a:ext cx="4160520" cy="4937760"/>
          </a:xfrm>
          <a:prstGeom prst="roundRect">
            <a:avLst>
              <a:gd name="adj" fmla="val 2637"/>
            </a:avLst>
          </a:prstGeom>
          <a:solidFill>
            <a:srgbClr val="21295C"/>
          </a:solidFill>
          <a:ln/>
        </p:spPr>
        <p:txBody>
          <a:bodyPr/>
          <a:lstStyle/>
          <a:p>
            <a:endParaRPr lang="en-IN"/>
          </a:p>
        </p:txBody>
      </p:sp>
      <p:sp>
        <p:nvSpPr>
          <p:cNvPr id="5" name="Shape 3"/>
          <p:cNvSpPr/>
          <p:nvPr/>
        </p:nvSpPr>
        <p:spPr>
          <a:xfrm flipV="1">
            <a:off x="8158734" y="1755648"/>
            <a:ext cx="1517904" cy="466344"/>
          </a:xfrm>
          <a:prstGeom prst="line">
            <a:avLst/>
          </a:prstGeom>
          <a:noFill/>
          <a:ln w="15875">
            <a:solidFill>
              <a:srgbClr val="CFE8EF">
                <a:alpha val="80000"/>
              </a:srgbClr>
            </a:solidFill>
            <a:prstDash val="solid"/>
          </a:ln>
        </p:spPr>
        <p:txBody>
          <a:bodyPr/>
          <a:lstStyle/>
          <a:p>
            <a:endParaRPr lang="en-IN"/>
          </a:p>
        </p:txBody>
      </p:sp>
      <p:sp>
        <p:nvSpPr>
          <p:cNvPr id="6" name="Shape 4"/>
          <p:cNvSpPr/>
          <p:nvPr/>
        </p:nvSpPr>
        <p:spPr>
          <a:xfrm>
            <a:off x="9676638" y="1755648"/>
            <a:ext cx="1328166" cy="777240"/>
          </a:xfrm>
          <a:prstGeom prst="line">
            <a:avLst/>
          </a:prstGeom>
          <a:noFill/>
          <a:ln w="15875">
            <a:solidFill>
              <a:srgbClr val="CFE8EF">
                <a:alpha val="80000"/>
              </a:srgbClr>
            </a:solidFill>
            <a:prstDash val="solid"/>
          </a:ln>
        </p:spPr>
        <p:txBody>
          <a:bodyPr/>
          <a:lstStyle/>
          <a:p>
            <a:endParaRPr lang="en-IN"/>
          </a:p>
        </p:txBody>
      </p:sp>
      <p:sp>
        <p:nvSpPr>
          <p:cNvPr id="7" name="Shape 5"/>
          <p:cNvSpPr/>
          <p:nvPr/>
        </p:nvSpPr>
        <p:spPr>
          <a:xfrm>
            <a:off x="8158734" y="2221992"/>
            <a:ext cx="758952" cy="1088136"/>
          </a:xfrm>
          <a:prstGeom prst="line">
            <a:avLst/>
          </a:prstGeom>
          <a:noFill/>
          <a:ln w="15875">
            <a:solidFill>
              <a:srgbClr val="CFE8EF">
                <a:alpha val="80000"/>
              </a:srgbClr>
            </a:solidFill>
            <a:prstDash val="solid"/>
          </a:ln>
        </p:spPr>
        <p:txBody>
          <a:bodyPr/>
          <a:lstStyle/>
          <a:p>
            <a:endParaRPr lang="en-IN"/>
          </a:p>
        </p:txBody>
      </p:sp>
      <p:sp>
        <p:nvSpPr>
          <p:cNvPr id="8" name="Shape 6"/>
          <p:cNvSpPr/>
          <p:nvPr/>
        </p:nvSpPr>
        <p:spPr>
          <a:xfrm>
            <a:off x="8917686" y="3310128"/>
            <a:ext cx="1517904" cy="310896"/>
          </a:xfrm>
          <a:prstGeom prst="line">
            <a:avLst/>
          </a:prstGeom>
          <a:noFill/>
          <a:ln w="15875">
            <a:solidFill>
              <a:srgbClr val="CFE8EF">
                <a:alpha val="80000"/>
              </a:srgbClr>
            </a:solidFill>
            <a:prstDash val="solid"/>
          </a:ln>
        </p:spPr>
        <p:txBody>
          <a:bodyPr/>
          <a:lstStyle/>
          <a:p>
            <a:endParaRPr lang="en-IN"/>
          </a:p>
        </p:txBody>
      </p:sp>
      <p:sp>
        <p:nvSpPr>
          <p:cNvPr id="9" name="Shape 7"/>
          <p:cNvSpPr/>
          <p:nvPr/>
        </p:nvSpPr>
        <p:spPr>
          <a:xfrm>
            <a:off x="9676638" y="1755648"/>
            <a:ext cx="758952" cy="1865376"/>
          </a:xfrm>
          <a:prstGeom prst="line">
            <a:avLst/>
          </a:prstGeom>
          <a:noFill/>
          <a:ln w="15875">
            <a:solidFill>
              <a:srgbClr val="CFE8EF">
                <a:alpha val="80000"/>
              </a:srgbClr>
            </a:solidFill>
            <a:prstDash val="solid"/>
          </a:ln>
        </p:spPr>
        <p:txBody>
          <a:bodyPr/>
          <a:lstStyle/>
          <a:p>
            <a:endParaRPr lang="en-IN"/>
          </a:p>
        </p:txBody>
      </p:sp>
      <p:sp>
        <p:nvSpPr>
          <p:cNvPr id="10" name="Shape 8"/>
          <p:cNvSpPr/>
          <p:nvPr/>
        </p:nvSpPr>
        <p:spPr>
          <a:xfrm flipH="1">
            <a:off x="7968996" y="3310128"/>
            <a:ext cx="948690" cy="621792"/>
          </a:xfrm>
          <a:prstGeom prst="line">
            <a:avLst/>
          </a:prstGeom>
          <a:noFill/>
          <a:ln w="15875">
            <a:solidFill>
              <a:srgbClr val="CFE8EF">
                <a:alpha val="80000"/>
              </a:srgbClr>
            </a:solidFill>
            <a:prstDash val="solid"/>
          </a:ln>
        </p:spPr>
        <p:txBody>
          <a:bodyPr/>
          <a:lstStyle/>
          <a:p>
            <a:endParaRPr lang="en-IN"/>
          </a:p>
        </p:txBody>
      </p:sp>
      <p:sp>
        <p:nvSpPr>
          <p:cNvPr id="11" name="Shape 9"/>
          <p:cNvSpPr/>
          <p:nvPr/>
        </p:nvSpPr>
        <p:spPr>
          <a:xfrm flipH="1">
            <a:off x="9676638" y="3621024"/>
            <a:ext cx="758952" cy="932688"/>
          </a:xfrm>
          <a:prstGeom prst="line">
            <a:avLst/>
          </a:prstGeom>
          <a:noFill/>
          <a:ln w="15875">
            <a:solidFill>
              <a:srgbClr val="CFE8EF">
                <a:alpha val="80000"/>
              </a:srgbClr>
            </a:solidFill>
            <a:prstDash val="solid"/>
          </a:ln>
        </p:spPr>
        <p:txBody>
          <a:bodyPr/>
          <a:lstStyle/>
          <a:p>
            <a:endParaRPr lang="en-IN"/>
          </a:p>
        </p:txBody>
      </p:sp>
      <p:sp>
        <p:nvSpPr>
          <p:cNvPr id="12" name="Shape 10"/>
          <p:cNvSpPr/>
          <p:nvPr/>
        </p:nvSpPr>
        <p:spPr>
          <a:xfrm>
            <a:off x="7968996" y="3931920"/>
            <a:ext cx="1707642" cy="621792"/>
          </a:xfrm>
          <a:prstGeom prst="line">
            <a:avLst/>
          </a:prstGeom>
          <a:noFill/>
          <a:ln w="15875">
            <a:solidFill>
              <a:srgbClr val="CFE8EF">
                <a:alpha val="80000"/>
              </a:srgbClr>
            </a:solidFill>
            <a:prstDash val="solid"/>
          </a:ln>
        </p:spPr>
        <p:txBody>
          <a:bodyPr/>
          <a:lstStyle/>
          <a:p>
            <a:endParaRPr lang="en-IN"/>
          </a:p>
        </p:txBody>
      </p:sp>
      <p:sp>
        <p:nvSpPr>
          <p:cNvPr id="13" name="Shape 11"/>
          <p:cNvSpPr/>
          <p:nvPr/>
        </p:nvSpPr>
        <p:spPr>
          <a:xfrm flipH="1">
            <a:off x="10435590" y="2532888"/>
            <a:ext cx="569214" cy="1088136"/>
          </a:xfrm>
          <a:prstGeom prst="line">
            <a:avLst/>
          </a:prstGeom>
          <a:noFill/>
          <a:ln w="15875">
            <a:solidFill>
              <a:srgbClr val="CFE8EF">
                <a:alpha val="80000"/>
              </a:srgbClr>
            </a:solidFill>
            <a:prstDash val="solid"/>
          </a:ln>
        </p:spPr>
        <p:txBody>
          <a:bodyPr/>
          <a:lstStyle/>
          <a:p>
            <a:endParaRPr lang="en-IN"/>
          </a:p>
        </p:txBody>
      </p:sp>
      <p:sp>
        <p:nvSpPr>
          <p:cNvPr id="14" name="Shape 12"/>
          <p:cNvSpPr/>
          <p:nvPr/>
        </p:nvSpPr>
        <p:spPr>
          <a:xfrm>
            <a:off x="8076438" y="2139696"/>
            <a:ext cx="164592" cy="164592"/>
          </a:xfrm>
          <a:prstGeom prst="ellipse">
            <a:avLst/>
          </a:prstGeom>
          <a:solidFill>
            <a:srgbClr val="1C7293"/>
          </a:solidFill>
          <a:ln w="19050">
            <a:solidFill>
              <a:srgbClr val="FFFFFF"/>
            </a:solidFill>
            <a:prstDash val="solid"/>
          </a:ln>
        </p:spPr>
        <p:txBody>
          <a:bodyPr/>
          <a:lstStyle/>
          <a:p>
            <a:endParaRPr lang="en-IN"/>
          </a:p>
        </p:txBody>
      </p:sp>
      <p:sp>
        <p:nvSpPr>
          <p:cNvPr id="15" name="Shape 13"/>
          <p:cNvSpPr/>
          <p:nvPr/>
        </p:nvSpPr>
        <p:spPr>
          <a:xfrm>
            <a:off x="9594342" y="1673352"/>
            <a:ext cx="164592" cy="164592"/>
          </a:xfrm>
          <a:prstGeom prst="ellipse">
            <a:avLst/>
          </a:prstGeom>
          <a:solidFill>
            <a:srgbClr val="1C7293"/>
          </a:solidFill>
          <a:ln w="19050">
            <a:solidFill>
              <a:srgbClr val="FFFFFF"/>
            </a:solidFill>
            <a:prstDash val="solid"/>
          </a:ln>
        </p:spPr>
        <p:txBody>
          <a:bodyPr/>
          <a:lstStyle/>
          <a:p>
            <a:endParaRPr lang="en-IN"/>
          </a:p>
        </p:txBody>
      </p:sp>
      <p:sp>
        <p:nvSpPr>
          <p:cNvPr id="16" name="Shape 14"/>
          <p:cNvSpPr/>
          <p:nvPr/>
        </p:nvSpPr>
        <p:spPr>
          <a:xfrm>
            <a:off x="10922508" y="2450592"/>
            <a:ext cx="164592" cy="164592"/>
          </a:xfrm>
          <a:prstGeom prst="ellipse">
            <a:avLst/>
          </a:prstGeom>
          <a:solidFill>
            <a:srgbClr val="1C7293"/>
          </a:solidFill>
          <a:ln w="19050">
            <a:solidFill>
              <a:srgbClr val="FFFFFF"/>
            </a:solidFill>
            <a:prstDash val="solid"/>
          </a:ln>
        </p:spPr>
        <p:txBody>
          <a:bodyPr/>
          <a:lstStyle/>
          <a:p>
            <a:endParaRPr lang="en-IN"/>
          </a:p>
        </p:txBody>
      </p:sp>
      <p:sp>
        <p:nvSpPr>
          <p:cNvPr id="17" name="Shape 15"/>
          <p:cNvSpPr/>
          <p:nvPr/>
        </p:nvSpPr>
        <p:spPr>
          <a:xfrm>
            <a:off x="8835390" y="3227832"/>
            <a:ext cx="164592" cy="164592"/>
          </a:xfrm>
          <a:prstGeom prst="ellipse">
            <a:avLst/>
          </a:prstGeom>
          <a:solidFill>
            <a:srgbClr val="1C7293"/>
          </a:solidFill>
          <a:ln w="19050">
            <a:solidFill>
              <a:srgbClr val="FFFFFF"/>
            </a:solidFill>
            <a:prstDash val="solid"/>
          </a:ln>
        </p:spPr>
        <p:txBody>
          <a:bodyPr/>
          <a:lstStyle/>
          <a:p>
            <a:endParaRPr lang="en-IN"/>
          </a:p>
        </p:txBody>
      </p:sp>
      <p:sp>
        <p:nvSpPr>
          <p:cNvPr id="18" name="Shape 16"/>
          <p:cNvSpPr/>
          <p:nvPr/>
        </p:nvSpPr>
        <p:spPr>
          <a:xfrm>
            <a:off x="10353294" y="3538728"/>
            <a:ext cx="164592" cy="164592"/>
          </a:xfrm>
          <a:prstGeom prst="ellipse">
            <a:avLst/>
          </a:prstGeom>
          <a:solidFill>
            <a:srgbClr val="1C7293"/>
          </a:solidFill>
          <a:ln w="19050">
            <a:solidFill>
              <a:srgbClr val="FFFFFF"/>
            </a:solidFill>
            <a:prstDash val="solid"/>
          </a:ln>
        </p:spPr>
        <p:txBody>
          <a:bodyPr/>
          <a:lstStyle/>
          <a:p>
            <a:endParaRPr lang="en-IN"/>
          </a:p>
        </p:txBody>
      </p:sp>
      <p:sp>
        <p:nvSpPr>
          <p:cNvPr id="19" name="Shape 17"/>
          <p:cNvSpPr/>
          <p:nvPr/>
        </p:nvSpPr>
        <p:spPr>
          <a:xfrm>
            <a:off x="7886700" y="3849624"/>
            <a:ext cx="164592" cy="164592"/>
          </a:xfrm>
          <a:prstGeom prst="ellipse">
            <a:avLst/>
          </a:prstGeom>
          <a:solidFill>
            <a:srgbClr val="1C7293"/>
          </a:solidFill>
          <a:ln w="19050">
            <a:solidFill>
              <a:srgbClr val="FFFFFF"/>
            </a:solidFill>
            <a:prstDash val="solid"/>
          </a:ln>
        </p:spPr>
        <p:txBody>
          <a:bodyPr/>
          <a:lstStyle/>
          <a:p>
            <a:endParaRPr lang="en-IN"/>
          </a:p>
        </p:txBody>
      </p:sp>
      <p:sp>
        <p:nvSpPr>
          <p:cNvPr id="20" name="Shape 18"/>
          <p:cNvSpPr/>
          <p:nvPr/>
        </p:nvSpPr>
        <p:spPr>
          <a:xfrm>
            <a:off x="9594342" y="4471416"/>
            <a:ext cx="164592" cy="164592"/>
          </a:xfrm>
          <a:prstGeom prst="ellipse">
            <a:avLst/>
          </a:prstGeom>
          <a:solidFill>
            <a:srgbClr val="1C7293"/>
          </a:solidFill>
          <a:ln w="19050">
            <a:solidFill>
              <a:srgbClr val="FFFFFF"/>
            </a:solidFill>
            <a:prstDash val="solid"/>
          </a:ln>
        </p:spPr>
        <p:txBody>
          <a:bodyPr/>
          <a:lstStyle/>
          <a:p>
            <a:endParaRPr lang="en-IN"/>
          </a:p>
        </p:txBody>
      </p:sp>
      <p:sp>
        <p:nvSpPr>
          <p:cNvPr id="21" name="Text 19"/>
          <p:cNvSpPr/>
          <p:nvPr/>
        </p:nvSpPr>
        <p:spPr>
          <a:xfrm>
            <a:off x="7635240" y="4892040"/>
            <a:ext cx="3749040" cy="1234440"/>
          </a:xfrm>
          <a:prstGeom prst="rect">
            <a:avLst/>
          </a:prstGeom>
          <a:noFill/>
          <a:ln/>
        </p:spPr>
        <p:txBody>
          <a:bodyPr wrap="square" rtlCol="0" anchor="ctr"/>
          <a:lstStyle/>
          <a:p>
            <a:pPr marL="0" indent="0" algn="ctr">
              <a:buNone/>
            </a:pPr>
            <a:r>
              <a:rPr lang="en-US" sz="1300" i="1" dirty="0">
                <a:solidFill>
                  <a:srgbClr val="CFE8EF"/>
                </a:solidFill>
                <a:latin typeface="Calibri" pitchFamily="34" charset="0"/>
                <a:ea typeface="Calibri" pitchFamily="34" charset="-122"/>
                <a:cs typeface="Calibri" pitchFamily="34" charset="-120"/>
              </a:rPr>
              <a:t>Users become nodes.</a:t>
            </a:r>
            <a:endParaRPr lang="en-US" sz="1300" dirty="0"/>
          </a:p>
          <a:p>
            <a:pPr marL="0" indent="0" algn="ctr">
              <a:buNone/>
            </a:pPr>
            <a:r>
              <a:rPr lang="en-US" sz="1300" i="1" dirty="0">
                <a:solidFill>
                  <a:srgbClr val="CFE8EF"/>
                </a:solidFill>
                <a:latin typeface="Calibri" pitchFamily="34" charset="0"/>
                <a:ea typeface="Calibri" pitchFamily="34" charset="-122"/>
                <a:cs typeface="Calibri" pitchFamily="34" charset="-120"/>
              </a:rPr>
              <a:t>Interactions become weighted edges.</a:t>
            </a:r>
            <a:endParaRPr lang="en-US" sz="1300" dirty="0"/>
          </a:p>
        </p:txBody>
      </p:sp>
      <p:sp>
        <p:nvSpPr>
          <p:cNvPr id="22" name="Shape 20"/>
          <p:cNvSpPr/>
          <p:nvPr/>
        </p:nvSpPr>
        <p:spPr>
          <a:xfrm>
            <a:off x="640080" y="1417320"/>
            <a:ext cx="384048" cy="384048"/>
          </a:xfrm>
          <a:prstGeom prst="ellipse">
            <a:avLst/>
          </a:prstGeom>
          <a:solidFill>
            <a:srgbClr val="065A82"/>
          </a:solidFill>
          <a:ln/>
        </p:spPr>
        <p:txBody>
          <a:bodyPr/>
          <a:lstStyle/>
          <a:p>
            <a:endParaRPr lang="en-IN"/>
          </a:p>
        </p:txBody>
      </p:sp>
      <p:sp>
        <p:nvSpPr>
          <p:cNvPr id="23" name="Text 21"/>
          <p:cNvSpPr/>
          <p:nvPr/>
        </p:nvSpPr>
        <p:spPr>
          <a:xfrm>
            <a:off x="640080" y="1417320"/>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4" name="Text 22"/>
          <p:cNvSpPr/>
          <p:nvPr/>
        </p:nvSpPr>
        <p:spPr>
          <a:xfrm>
            <a:off x="1188720" y="1371600"/>
            <a:ext cx="5943600" cy="320040"/>
          </a:xfrm>
          <a:prstGeom prst="rect">
            <a:avLst/>
          </a:prstGeom>
          <a:noFill/>
          <a:ln/>
        </p:spPr>
        <p:txBody>
          <a:bodyPr wrap="square" rtlCol="0" anchor="ctr"/>
          <a:lstStyle/>
          <a:p>
            <a:pPr marL="0" indent="0">
              <a:buNone/>
            </a:pPr>
            <a:r>
              <a:rPr lang="en-US" sz="1500" b="1" dirty="0">
                <a:solidFill>
                  <a:srgbClr val="21295C"/>
                </a:solidFill>
                <a:latin typeface="Calibri" pitchFamily="34" charset="0"/>
                <a:ea typeface="Calibri" pitchFamily="34" charset="-122"/>
                <a:cs typeface="Calibri" pitchFamily="34" charset="-120"/>
              </a:rPr>
              <a:t>The Problem</a:t>
            </a:r>
            <a:endParaRPr lang="en-US" sz="1500" dirty="0"/>
          </a:p>
        </p:txBody>
      </p:sp>
      <p:sp>
        <p:nvSpPr>
          <p:cNvPr id="25" name="Text 23"/>
          <p:cNvSpPr/>
          <p:nvPr/>
        </p:nvSpPr>
        <p:spPr>
          <a:xfrm>
            <a:off x="1188720" y="1709928"/>
            <a:ext cx="5989320" cy="685800"/>
          </a:xfrm>
          <a:prstGeom prst="rect">
            <a:avLst/>
          </a:prstGeom>
          <a:noFill/>
          <a:ln/>
        </p:spPr>
        <p:txBody>
          <a:bodyPr wrap="square" rtlCol="0" anchor="t"/>
          <a:lstStyle/>
          <a:p>
            <a:pPr marL="0" indent="0">
              <a:lnSpc>
                <a:spcPct val="115000"/>
              </a:lnSpc>
              <a:buNone/>
            </a:pPr>
            <a:r>
              <a:rPr lang="en-US" sz="1250" dirty="0">
                <a:solidFill>
                  <a:srgbClr val="5B6B76"/>
                </a:solidFill>
                <a:latin typeface="Calibri" pitchFamily="34" charset="0"/>
                <a:ea typeface="Calibri" pitchFamily="34" charset="-122"/>
                <a:cs typeface="Calibri" pitchFamily="34" charset="-120"/>
              </a:rPr>
              <a:t>Online platforms generate huge volumes of interaction data, making it hard to see how people naturally group together.</a:t>
            </a:r>
            <a:endParaRPr lang="en-US" sz="1250" dirty="0"/>
          </a:p>
        </p:txBody>
      </p:sp>
      <p:sp>
        <p:nvSpPr>
          <p:cNvPr id="26" name="Shape 24"/>
          <p:cNvSpPr/>
          <p:nvPr/>
        </p:nvSpPr>
        <p:spPr>
          <a:xfrm>
            <a:off x="640080" y="2624328"/>
            <a:ext cx="384048" cy="384048"/>
          </a:xfrm>
          <a:prstGeom prst="ellipse">
            <a:avLst/>
          </a:prstGeom>
          <a:solidFill>
            <a:srgbClr val="1C7293"/>
          </a:solidFill>
          <a:ln/>
        </p:spPr>
        <p:txBody>
          <a:bodyPr/>
          <a:lstStyle/>
          <a:p>
            <a:endParaRPr lang="en-IN"/>
          </a:p>
        </p:txBody>
      </p:sp>
      <p:sp>
        <p:nvSpPr>
          <p:cNvPr id="27" name="Text 25"/>
          <p:cNvSpPr/>
          <p:nvPr/>
        </p:nvSpPr>
        <p:spPr>
          <a:xfrm>
            <a:off x="640080" y="2624328"/>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8" name="Text 26"/>
          <p:cNvSpPr/>
          <p:nvPr/>
        </p:nvSpPr>
        <p:spPr>
          <a:xfrm>
            <a:off x="1188720" y="2578608"/>
            <a:ext cx="5943600" cy="320040"/>
          </a:xfrm>
          <a:prstGeom prst="rect">
            <a:avLst/>
          </a:prstGeom>
          <a:noFill/>
          <a:ln/>
        </p:spPr>
        <p:txBody>
          <a:bodyPr wrap="square" rtlCol="0" anchor="ctr"/>
          <a:lstStyle/>
          <a:p>
            <a:pPr marL="0" indent="0">
              <a:buNone/>
            </a:pPr>
            <a:r>
              <a:rPr lang="en-US" sz="1500" b="1" dirty="0">
                <a:solidFill>
                  <a:srgbClr val="21295C"/>
                </a:solidFill>
                <a:latin typeface="Calibri" pitchFamily="34" charset="0"/>
                <a:ea typeface="Calibri" pitchFamily="34" charset="-122"/>
                <a:cs typeface="Calibri" pitchFamily="34" charset="-120"/>
              </a:rPr>
              <a:t>Graph Modeling</a:t>
            </a:r>
            <a:endParaRPr lang="en-US" sz="1500" dirty="0"/>
          </a:p>
        </p:txBody>
      </p:sp>
      <p:sp>
        <p:nvSpPr>
          <p:cNvPr id="29" name="Text 27"/>
          <p:cNvSpPr/>
          <p:nvPr/>
        </p:nvSpPr>
        <p:spPr>
          <a:xfrm>
            <a:off x="1188720" y="2916936"/>
            <a:ext cx="5989320" cy="685800"/>
          </a:xfrm>
          <a:prstGeom prst="rect">
            <a:avLst/>
          </a:prstGeom>
          <a:noFill/>
          <a:ln/>
        </p:spPr>
        <p:txBody>
          <a:bodyPr wrap="square" rtlCol="0" anchor="t"/>
          <a:lstStyle/>
          <a:p>
            <a:pPr marL="0" indent="0">
              <a:lnSpc>
                <a:spcPct val="115000"/>
              </a:lnSpc>
              <a:buNone/>
            </a:pPr>
            <a:r>
              <a:rPr lang="en-US" sz="1250" dirty="0">
                <a:solidFill>
                  <a:srgbClr val="5B6B76"/>
                </a:solidFill>
                <a:latin typeface="Calibri" pitchFamily="34" charset="0"/>
                <a:ea typeface="Calibri" pitchFamily="34" charset="-122"/>
                <a:cs typeface="Calibri" pitchFamily="34" charset="-120"/>
              </a:rPr>
              <a:t>Users are represented as nodes and their interactions (messages, likes, comments) as edges in a graph.</a:t>
            </a:r>
            <a:endParaRPr lang="en-US" sz="1250" dirty="0"/>
          </a:p>
        </p:txBody>
      </p:sp>
      <p:sp>
        <p:nvSpPr>
          <p:cNvPr id="30" name="Shape 28"/>
          <p:cNvSpPr/>
          <p:nvPr/>
        </p:nvSpPr>
        <p:spPr>
          <a:xfrm>
            <a:off x="640080" y="3831336"/>
            <a:ext cx="384048" cy="384048"/>
          </a:xfrm>
          <a:prstGeom prst="ellipse">
            <a:avLst/>
          </a:prstGeom>
          <a:solidFill>
            <a:srgbClr val="065A82"/>
          </a:solidFill>
          <a:ln/>
        </p:spPr>
        <p:txBody>
          <a:bodyPr/>
          <a:lstStyle/>
          <a:p>
            <a:endParaRPr lang="en-IN"/>
          </a:p>
        </p:txBody>
      </p:sp>
      <p:sp>
        <p:nvSpPr>
          <p:cNvPr id="31" name="Text 29"/>
          <p:cNvSpPr/>
          <p:nvPr/>
        </p:nvSpPr>
        <p:spPr>
          <a:xfrm>
            <a:off x="640080" y="3831336"/>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32" name="Text 30"/>
          <p:cNvSpPr/>
          <p:nvPr/>
        </p:nvSpPr>
        <p:spPr>
          <a:xfrm>
            <a:off x="1188720" y="3785616"/>
            <a:ext cx="5943600" cy="320040"/>
          </a:xfrm>
          <a:prstGeom prst="rect">
            <a:avLst/>
          </a:prstGeom>
          <a:noFill/>
          <a:ln/>
        </p:spPr>
        <p:txBody>
          <a:bodyPr wrap="square" rtlCol="0" anchor="ctr"/>
          <a:lstStyle/>
          <a:p>
            <a:pPr marL="0" indent="0">
              <a:buNone/>
            </a:pPr>
            <a:r>
              <a:rPr lang="en-US" sz="1500" b="1" dirty="0">
                <a:solidFill>
                  <a:srgbClr val="21295C"/>
                </a:solidFill>
                <a:latin typeface="Calibri" pitchFamily="34" charset="0"/>
                <a:ea typeface="Calibri" pitchFamily="34" charset="-122"/>
                <a:cs typeface="Calibri" pitchFamily="34" charset="-120"/>
              </a:rPr>
              <a:t>Why DSA Matters</a:t>
            </a:r>
            <a:endParaRPr lang="en-US" sz="1500" dirty="0"/>
          </a:p>
        </p:txBody>
      </p:sp>
      <p:sp>
        <p:nvSpPr>
          <p:cNvPr id="33" name="Text 31"/>
          <p:cNvSpPr/>
          <p:nvPr/>
        </p:nvSpPr>
        <p:spPr>
          <a:xfrm>
            <a:off x="1188720" y="4123944"/>
            <a:ext cx="5989320" cy="685800"/>
          </a:xfrm>
          <a:prstGeom prst="rect">
            <a:avLst/>
          </a:prstGeom>
          <a:noFill/>
          <a:ln/>
        </p:spPr>
        <p:txBody>
          <a:bodyPr wrap="square" rtlCol="0" anchor="t"/>
          <a:lstStyle/>
          <a:p>
            <a:pPr marL="0" indent="0">
              <a:lnSpc>
                <a:spcPct val="115000"/>
              </a:lnSpc>
              <a:buNone/>
            </a:pPr>
            <a:r>
              <a:rPr lang="en-US" sz="1250" dirty="0">
                <a:solidFill>
                  <a:srgbClr val="5B6B76"/>
                </a:solidFill>
                <a:latin typeface="Calibri" pitchFamily="34" charset="0"/>
                <a:ea typeface="Calibri" pitchFamily="34" charset="-122"/>
                <a:cs typeface="Calibri" pitchFamily="34" charset="-120"/>
              </a:rPr>
              <a:t>Graph traversal (BFS/DFS) and community detection algorithms uncover tightly-knit clusters within the network.</a:t>
            </a:r>
            <a:endParaRPr lang="en-US" sz="1250" dirty="0"/>
          </a:p>
        </p:txBody>
      </p:sp>
      <p:sp>
        <p:nvSpPr>
          <p:cNvPr id="34" name="Shape 32"/>
          <p:cNvSpPr/>
          <p:nvPr/>
        </p:nvSpPr>
        <p:spPr>
          <a:xfrm>
            <a:off x="640080" y="5038344"/>
            <a:ext cx="384048" cy="384048"/>
          </a:xfrm>
          <a:prstGeom prst="ellipse">
            <a:avLst/>
          </a:prstGeom>
          <a:solidFill>
            <a:srgbClr val="1C7293"/>
          </a:solidFill>
          <a:ln/>
        </p:spPr>
        <p:txBody>
          <a:bodyPr/>
          <a:lstStyle/>
          <a:p>
            <a:endParaRPr lang="en-IN"/>
          </a:p>
        </p:txBody>
      </p:sp>
      <p:sp>
        <p:nvSpPr>
          <p:cNvPr id="35" name="Text 33"/>
          <p:cNvSpPr/>
          <p:nvPr/>
        </p:nvSpPr>
        <p:spPr>
          <a:xfrm>
            <a:off x="640080" y="5038344"/>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6" name="Text 34"/>
          <p:cNvSpPr/>
          <p:nvPr/>
        </p:nvSpPr>
        <p:spPr>
          <a:xfrm>
            <a:off x="1188720" y="4992624"/>
            <a:ext cx="5943600" cy="320040"/>
          </a:xfrm>
          <a:prstGeom prst="rect">
            <a:avLst/>
          </a:prstGeom>
          <a:noFill/>
          <a:ln/>
        </p:spPr>
        <p:txBody>
          <a:bodyPr wrap="square" rtlCol="0" anchor="ctr"/>
          <a:lstStyle/>
          <a:p>
            <a:pPr marL="0" indent="0">
              <a:buNone/>
            </a:pPr>
            <a:r>
              <a:rPr lang="en-US" sz="1500" b="1" dirty="0">
                <a:solidFill>
                  <a:srgbClr val="21295C"/>
                </a:solidFill>
                <a:latin typeface="Calibri" pitchFamily="34" charset="0"/>
                <a:ea typeface="Calibri" pitchFamily="34" charset="-122"/>
                <a:cs typeface="Calibri" pitchFamily="34" charset="-120"/>
              </a:rPr>
              <a:t>The Goal</a:t>
            </a:r>
            <a:endParaRPr lang="en-US" sz="1500" dirty="0"/>
          </a:p>
        </p:txBody>
      </p:sp>
      <p:sp>
        <p:nvSpPr>
          <p:cNvPr id="37" name="Text 35"/>
          <p:cNvSpPr/>
          <p:nvPr/>
        </p:nvSpPr>
        <p:spPr>
          <a:xfrm>
            <a:off x="1188720" y="5330952"/>
            <a:ext cx="5989320" cy="685800"/>
          </a:xfrm>
          <a:prstGeom prst="rect">
            <a:avLst/>
          </a:prstGeom>
          <a:noFill/>
          <a:ln/>
        </p:spPr>
        <p:txBody>
          <a:bodyPr wrap="square" rtlCol="0" anchor="t"/>
          <a:lstStyle/>
          <a:p>
            <a:pPr marL="0" indent="0">
              <a:lnSpc>
                <a:spcPct val="115000"/>
              </a:lnSpc>
              <a:buNone/>
            </a:pPr>
            <a:r>
              <a:rPr lang="en-US" sz="1250" dirty="0">
                <a:solidFill>
                  <a:srgbClr val="5B6B76"/>
                </a:solidFill>
                <a:latin typeface="Calibri" pitchFamily="34" charset="0"/>
                <a:ea typeface="Calibri" pitchFamily="34" charset="-122"/>
                <a:cs typeface="Calibri" pitchFamily="34" charset="-120"/>
              </a:rPr>
              <a:t>Build a platform that detects, visualizes, and quantifies communities to support analysis and decision-making.</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64008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Software &amp; Hardware Requirements</a:t>
            </a:r>
            <a:endParaRPr lang="en-US" sz="3000" dirty="0"/>
          </a:p>
        </p:txBody>
      </p:sp>
      <p:sp>
        <p:nvSpPr>
          <p:cNvPr id="3" name="Shape 1"/>
          <p:cNvSpPr/>
          <p:nvPr/>
        </p:nvSpPr>
        <p:spPr>
          <a:xfrm>
            <a:off x="658368" y="1097280"/>
            <a:ext cx="822960" cy="64008"/>
          </a:xfrm>
          <a:prstGeom prst="rect">
            <a:avLst/>
          </a:prstGeom>
          <a:solidFill>
            <a:srgbClr val="1C7293"/>
          </a:solidFill>
          <a:ln/>
        </p:spPr>
        <p:txBody>
          <a:bodyPr/>
          <a:lstStyle/>
          <a:p>
            <a:endParaRPr lang="en-IN"/>
          </a:p>
        </p:txBody>
      </p:sp>
      <p:sp>
        <p:nvSpPr>
          <p:cNvPr id="4" name="Shape 2"/>
          <p:cNvSpPr/>
          <p:nvPr/>
        </p:nvSpPr>
        <p:spPr>
          <a:xfrm>
            <a:off x="594360" y="1545176"/>
            <a:ext cx="5303520" cy="4800600"/>
          </a:xfrm>
          <a:prstGeom prst="roundRect">
            <a:avLst>
              <a:gd name="adj" fmla="val 2286"/>
            </a:avLst>
          </a:prstGeom>
          <a:solidFill>
            <a:srgbClr val="FFFFFF"/>
          </a:solidFill>
          <a:ln w="12700">
            <a:solidFill>
              <a:srgbClr val="CFE8EF"/>
            </a:solidFill>
            <a:prstDash val="solid"/>
          </a:ln>
          <a:effectLst>
            <a:outerShdw blurRad="101600" dist="38100" dir="5400000" algn="bl" rotWithShape="0">
              <a:srgbClr val="8AA0AC">
                <a:alpha val="20000"/>
              </a:srgbClr>
            </a:outerShdw>
          </a:effectLst>
        </p:spPr>
        <p:txBody>
          <a:bodyPr/>
          <a:lstStyle/>
          <a:p>
            <a:endParaRPr lang="en-IN" dirty="0"/>
          </a:p>
        </p:txBody>
      </p:sp>
      <p:sp>
        <p:nvSpPr>
          <p:cNvPr id="5" name="Shape 3"/>
          <p:cNvSpPr/>
          <p:nvPr/>
        </p:nvSpPr>
        <p:spPr>
          <a:xfrm>
            <a:off x="6263640" y="1508760"/>
            <a:ext cx="5303520" cy="4800600"/>
          </a:xfrm>
          <a:prstGeom prst="roundRect">
            <a:avLst>
              <a:gd name="adj" fmla="val 2286"/>
            </a:avLst>
          </a:prstGeom>
          <a:solidFill>
            <a:srgbClr val="FFFFFF"/>
          </a:solidFill>
          <a:ln w="12700">
            <a:solidFill>
              <a:srgbClr val="CFE8EF"/>
            </a:solidFill>
            <a:prstDash val="solid"/>
          </a:ln>
          <a:effectLst>
            <a:outerShdw blurRad="101600" dist="38100" dir="5400000" algn="bl" rotWithShape="0">
              <a:srgbClr val="8AA0AC">
                <a:alpha val="20000"/>
              </a:srgbClr>
            </a:outerShdw>
          </a:effectLst>
        </p:spPr>
        <p:txBody>
          <a:bodyPr/>
          <a:lstStyle/>
          <a:p>
            <a:endParaRPr lang="en-IN"/>
          </a:p>
        </p:txBody>
      </p:sp>
      <p:sp>
        <p:nvSpPr>
          <p:cNvPr id="6" name="Shape 4"/>
          <p:cNvSpPr/>
          <p:nvPr/>
        </p:nvSpPr>
        <p:spPr>
          <a:xfrm>
            <a:off x="822960" y="1691640"/>
            <a:ext cx="640080" cy="640080"/>
          </a:xfrm>
          <a:prstGeom prst="ellipse">
            <a:avLst/>
          </a:prstGeom>
          <a:solidFill>
            <a:srgbClr val="065A82"/>
          </a:solidFill>
          <a:ln/>
        </p:spPr>
        <p:txBody>
          <a:bodyPr/>
          <a:lstStyle/>
          <a:p>
            <a:endParaRPr lang="en-IN"/>
          </a:p>
        </p:txBody>
      </p:sp>
      <p:pic>
        <p:nvPicPr>
          <p:cNvPr id="7" name="Image 0" descr="icons/laptop.png"/>
          <p:cNvPicPr>
            <a:picLocks noChangeAspect="1"/>
          </p:cNvPicPr>
          <p:nvPr/>
        </p:nvPicPr>
        <p:blipFill>
          <a:blip r:embed="rId3"/>
          <a:stretch>
            <a:fillRect/>
          </a:stretch>
        </p:blipFill>
        <p:spPr>
          <a:xfrm>
            <a:off x="966978" y="1835658"/>
            <a:ext cx="352044" cy="352044"/>
          </a:xfrm>
          <a:prstGeom prst="rect">
            <a:avLst/>
          </a:prstGeom>
        </p:spPr>
      </p:pic>
      <p:sp>
        <p:nvSpPr>
          <p:cNvPr id="8" name="Text 5"/>
          <p:cNvSpPr/>
          <p:nvPr/>
        </p:nvSpPr>
        <p:spPr>
          <a:xfrm>
            <a:off x="1554480" y="1737360"/>
            <a:ext cx="4114800" cy="502920"/>
          </a:xfrm>
          <a:prstGeom prst="rect">
            <a:avLst/>
          </a:prstGeom>
          <a:noFill/>
          <a:ln/>
        </p:spPr>
        <p:txBody>
          <a:bodyPr wrap="square"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Software Requirements</a:t>
            </a:r>
            <a:endParaRPr lang="en-US" sz="1600" dirty="0"/>
          </a:p>
        </p:txBody>
      </p:sp>
      <p:sp>
        <p:nvSpPr>
          <p:cNvPr id="9" name="Shape 6"/>
          <p:cNvSpPr/>
          <p:nvPr/>
        </p:nvSpPr>
        <p:spPr>
          <a:xfrm>
            <a:off x="1051560" y="2587752"/>
            <a:ext cx="73152" cy="73152"/>
          </a:xfrm>
          <a:prstGeom prst="ellipse">
            <a:avLst/>
          </a:prstGeom>
          <a:solidFill>
            <a:srgbClr val="1C7293"/>
          </a:solidFill>
          <a:ln/>
        </p:spPr>
        <p:txBody>
          <a:bodyPr/>
          <a:lstStyle/>
          <a:p>
            <a:endParaRPr lang="en-IN"/>
          </a:p>
        </p:txBody>
      </p:sp>
      <p:sp>
        <p:nvSpPr>
          <p:cNvPr id="10" name="Text 7"/>
          <p:cNvSpPr/>
          <p:nvPr/>
        </p:nvSpPr>
        <p:spPr>
          <a:xfrm>
            <a:off x="1280160" y="2459736"/>
            <a:ext cx="4297680" cy="384048"/>
          </a:xfrm>
          <a:prstGeom prst="rect">
            <a:avLst/>
          </a:prstGeom>
          <a:noFill/>
          <a:ln/>
        </p:spPr>
        <p:txBody>
          <a:bodyPr wrap="square" rtlCol="0" anchor="ctr"/>
          <a:lstStyle/>
          <a:p>
            <a:r>
              <a:rPr lang="en-IN" sz="1400" b="1" dirty="0"/>
              <a:t>Java JDK 17 or higher</a:t>
            </a:r>
            <a:r>
              <a:rPr lang="en-IN" sz="1400" dirty="0"/>
              <a:t> – Core programming language</a:t>
            </a:r>
            <a:endParaRPr lang="en-US" sz="1250" dirty="0"/>
          </a:p>
        </p:txBody>
      </p:sp>
      <p:sp>
        <p:nvSpPr>
          <p:cNvPr id="11" name="Shape 8"/>
          <p:cNvSpPr/>
          <p:nvPr/>
        </p:nvSpPr>
        <p:spPr>
          <a:xfrm>
            <a:off x="1051560" y="3118104"/>
            <a:ext cx="73152" cy="73152"/>
          </a:xfrm>
          <a:prstGeom prst="ellipse">
            <a:avLst/>
          </a:prstGeom>
          <a:solidFill>
            <a:srgbClr val="1C7293"/>
          </a:solidFill>
          <a:ln/>
        </p:spPr>
        <p:txBody>
          <a:bodyPr/>
          <a:lstStyle/>
          <a:p>
            <a:endParaRPr lang="en-IN"/>
          </a:p>
        </p:txBody>
      </p:sp>
      <p:sp>
        <p:nvSpPr>
          <p:cNvPr id="12" name="Text 9"/>
          <p:cNvSpPr/>
          <p:nvPr/>
        </p:nvSpPr>
        <p:spPr>
          <a:xfrm>
            <a:off x="1280160" y="2990088"/>
            <a:ext cx="4297680" cy="384048"/>
          </a:xfrm>
          <a:prstGeom prst="rect">
            <a:avLst/>
          </a:prstGeom>
          <a:noFill/>
          <a:ln/>
        </p:spPr>
        <p:txBody>
          <a:bodyPr wrap="square" rtlCol="0" anchor="ctr"/>
          <a:lstStyle/>
          <a:p>
            <a:r>
              <a:rPr lang="en-IN" sz="1400" b="1" dirty="0"/>
              <a:t>IntelliJ IDEA / Eclipse</a:t>
            </a:r>
            <a:r>
              <a:rPr lang="en-IN" sz="1400" dirty="0"/>
              <a:t> – IDE for development</a:t>
            </a:r>
            <a:endParaRPr lang="en-US" sz="1250" i="1" dirty="0"/>
          </a:p>
        </p:txBody>
      </p:sp>
      <p:sp>
        <p:nvSpPr>
          <p:cNvPr id="13" name="Shape 10"/>
          <p:cNvSpPr/>
          <p:nvPr/>
        </p:nvSpPr>
        <p:spPr>
          <a:xfrm>
            <a:off x="1051560" y="3648456"/>
            <a:ext cx="73152" cy="73152"/>
          </a:xfrm>
          <a:prstGeom prst="ellipse">
            <a:avLst/>
          </a:prstGeom>
          <a:solidFill>
            <a:srgbClr val="1C7293"/>
          </a:solidFill>
          <a:ln/>
        </p:spPr>
        <p:txBody>
          <a:bodyPr/>
          <a:lstStyle/>
          <a:p>
            <a:endParaRPr lang="en-IN"/>
          </a:p>
        </p:txBody>
      </p:sp>
      <p:sp>
        <p:nvSpPr>
          <p:cNvPr id="14" name="Text 11"/>
          <p:cNvSpPr/>
          <p:nvPr/>
        </p:nvSpPr>
        <p:spPr>
          <a:xfrm>
            <a:off x="1280160" y="3520440"/>
            <a:ext cx="4297680" cy="384048"/>
          </a:xfrm>
          <a:prstGeom prst="rect">
            <a:avLst/>
          </a:prstGeom>
          <a:noFill/>
          <a:ln/>
        </p:spPr>
        <p:txBody>
          <a:bodyPr wrap="square" rtlCol="0" anchor="ctr"/>
          <a:lstStyle/>
          <a:p>
            <a:r>
              <a:rPr lang="en-IN" sz="1400" b="1" dirty="0"/>
              <a:t>JGraphT</a:t>
            </a:r>
            <a:r>
              <a:rPr lang="en-IN" sz="1400" dirty="0"/>
              <a:t> – Graph construction and traversal</a:t>
            </a:r>
            <a:endParaRPr lang="en-US" sz="1250" dirty="0"/>
          </a:p>
        </p:txBody>
      </p:sp>
      <p:sp>
        <p:nvSpPr>
          <p:cNvPr id="15" name="Shape 12"/>
          <p:cNvSpPr/>
          <p:nvPr/>
        </p:nvSpPr>
        <p:spPr>
          <a:xfrm>
            <a:off x="1051560" y="4178808"/>
            <a:ext cx="73152" cy="73152"/>
          </a:xfrm>
          <a:prstGeom prst="ellipse">
            <a:avLst/>
          </a:prstGeom>
          <a:solidFill>
            <a:srgbClr val="1C7293"/>
          </a:solidFill>
          <a:ln/>
        </p:spPr>
        <p:txBody>
          <a:bodyPr/>
          <a:lstStyle/>
          <a:p>
            <a:endParaRPr lang="en-IN"/>
          </a:p>
        </p:txBody>
      </p:sp>
      <p:sp>
        <p:nvSpPr>
          <p:cNvPr id="16" name="Text 13"/>
          <p:cNvSpPr/>
          <p:nvPr/>
        </p:nvSpPr>
        <p:spPr>
          <a:xfrm>
            <a:off x="1280160" y="4050792"/>
            <a:ext cx="4297680" cy="384048"/>
          </a:xfrm>
          <a:prstGeom prst="rect">
            <a:avLst/>
          </a:prstGeom>
          <a:noFill/>
          <a:ln/>
        </p:spPr>
        <p:txBody>
          <a:bodyPr wrap="square" rtlCol="0" anchor="ctr"/>
          <a:lstStyle/>
          <a:p>
            <a:r>
              <a:rPr lang="en-IN" sz="1400" b="1" dirty="0"/>
              <a:t>Louvain Algorithm Library</a:t>
            </a:r>
            <a:r>
              <a:rPr lang="en-IN" sz="1400" dirty="0"/>
              <a:t> – Community detection</a:t>
            </a:r>
            <a:endParaRPr lang="en-US" sz="1250" dirty="0"/>
          </a:p>
        </p:txBody>
      </p:sp>
      <p:sp>
        <p:nvSpPr>
          <p:cNvPr id="17" name="Shape 14"/>
          <p:cNvSpPr/>
          <p:nvPr/>
        </p:nvSpPr>
        <p:spPr>
          <a:xfrm>
            <a:off x="1051560" y="4709160"/>
            <a:ext cx="73152" cy="73152"/>
          </a:xfrm>
          <a:prstGeom prst="ellipse">
            <a:avLst/>
          </a:prstGeom>
          <a:solidFill>
            <a:srgbClr val="1C7293"/>
          </a:solidFill>
          <a:ln/>
        </p:spPr>
        <p:txBody>
          <a:bodyPr/>
          <a:lstStyle/>
          <a:p>
            <a:endParaRPr lang="en-IN"/>
          </a:p>
        </p:txBody>
      </p:sp>
      <p:sp>
        <p:nvSpPr>
          <p:cNvPr id="18" name="Text 15"/>
          <p:cNvSpPr/>
          <p:nvPr/>
        </p:nvSpPr>
        <p:spPr>
          <a:xfrm>
            <a:off x="1280160" y="4581144"/>
            <a:ext cx="4297680" cy="384048"/>
          </a:xfrm>
          <a:prstGeom prst="rect">
            <a:avLst/>
          </a:prstGeom>
          <a:noFill/>
          <a:ln/>
        </p:spPr>
        <p:txBody>
          <a:bodyPr wrap="square" rtlCol="0" anchor="ctr"/>
          <a:lstStyle/>
          <a:p>
            <a:r>
              <a:rPr lang="en-IN" sz="1400" b="1" dirty="0"/>
              <a:t>JavaFX / Swing</a:t>
            </a:r>
            <a:r>
              <a:rPr lang="en-IN" sz="1400" dirty="0"/>
              <a:t> – Graph and community visualization</a:t>
            </a:r>
            <a:endParaRPr lang="en-US" sz="1250" dirty="0"/>
          </a:p>
        </p:txBody>
      </p:sp>
      <p:sp>
        <p:nvSpPr>
          <p:cNvPr id="19" name="Shape 16"/>
          <p:cNvSpPr/>
          <p:nvPr/>
        </p:nvSpPr>
        <p:spPr>
          <a:xfrm>
            <a:off x="1051560" y="5239512"/>
            <a:ext cx="73152" cy="73152"/>
          </a:xfrm>
          <a:prstGeom prst="ellipse">
            <a:avLst/>
          </a:prstGeom>
          <a:solidFill>
            <a:srgbClr val="1C7293"/>
          </a:solidFill>
          <a:ln/>
        </p:spPr>
        <p:txBody>
          <a:bodyPr/>
          <a:lstStyle/>
          <a:p>
            <a:endParaRPr lang="en-IN"/>
          </a:p>
        </p:txBody>
      </p:sp>
      <p:sp>
        <p:nvSpPr>
          <p:cNvPr id="20" name="Text 17"/>
          <p:cNvSpPr/>
          <p:nvPr/>
        </p:nvSpPr>
        <p:spPr>
          <a:xfrm>
            <a:off x="1280160" y="5111496"/>
            <a:ext cx="4297680" cy="384048"/>
          </a:xfrm>
          <a:prstGeom prst="rect">
            <a:avLst/>
          </a:prstGeom>
          <a:noFill/>
          <a:ln/>
        </p:spPr>
        <p:txBody>
          <a:bodyPr wrap="square" rtlCol="0" anchor="ctr"/>
          <a:lstStyle/>
          <a:p>
            <a:r>
              <a:rPr lang="en-IN" sz="1400" b="1" dirty="0"/>
              <a:t>MySQL / SQLite</a:t>
            </a:r>
            <a:r>
              <a:rPr lang="en-IN" sz="1400" dirty="0"/>
              <a:t> – Data storage (if required)</a:t>
            </a:r>
            <a:endParaRPr lang="en-US" sz="1250" dirty="0"/>
          </a:p>
        </p:txBody>
      </p:sp>
      <p:sp>
        <p:nvSpPr>
          <p:cNvPr id="21" name="Shape 18"/>
          <p:cNvSpPr/>
          <p:nvPr/>
        </p:nvSpPr>
        <p:spPr>
          <a:xfrm>
            <a:off x="1051560" y="5769864"/>
            <a:ext cx="73152" cy="73152"/>
          </a:xfrm>
          <a:prstGeom prst="ellipse">
            <a:avLst/>
          </a:prstGeom>
          <a:solidFill>
            <a:srgbClr val="1C7293"/>
          </a:solidFill>
          <a:ln/>
        </p:spPr>
        <p:txBody>
          <a:bodyPr/>
          <a:lstStyle/>
          <a:p>
            <a:endParaRPr lang="en-IN"/>
          </a:p>
        </p:txBody>
      </p:sp>
      <p:sp>
        <p:nvSpPr>
          <p:cNvPr id="22" name="Text 19"/>
          <p:cNvSpPr/>
          <p:nvPr/>
        </p:nvSpPr>
        <p:spPr>
          <a:xfrm>
            <a:off x="1280160" y="5641848"/>
            <a:ext cx="4297680" cy="384048"/>
          </a:xfrm>
          <a:prstGeom prst="rect">
            <a:avLst/>
          </a:prstGeom>
          <a:noFill/>
          <a:ln/>
        </p:spPr>
        <p:txBody>
          <a:bodyPr wrap="square" rtlCol="0" anchor="ctr"/>
          <a:lstStyle/>
          <a:p>
            <a:r>
              <a:rPr lang="en-IN" sz="1400" b="1" dirty="0"/>
              <a:t>Windows / Linux</a:t>
            </a:r>
            <a:r>
              <a:rPr lang="en-IN" sz="1400" dirty="0"/>
              <a:t> – Operating system</a:t>
            </a:r>
            <a:endParaRPr lang="en-US" sz="1250" dirty="0"/>
          </a:p>
        </p:txBody>
      </p:sp>
      <p:sp>
        <p:nvSpPr>
          <p:cNvPr id="23" name="Shape 20"/>
          <p:cNvSpPr/>
          <p:nvPr/>
        </p:nvSpPr>
        <p:spPr>
          <a:xfrm>
            <a:off x="6446520" y="1691640"/>
            <a:ext cx="640080" cy="640080"/>
          </a:xfrm>
          <a:prstGeom prst="ellipse">
            <a:avLst/>
          </a:prstGeom>
          <a:solidFill>
            <a:srgbClr val="1C7293"/>
          </a:solidFill>
          <a:ln/>
        </p:spPr>
        <p:txBody>
          <a:bodyPr/>
          <a:lstStyle/>
          <a:p>
            <a:endParaRPr lang="en-IN"/>
          </a:p>
        </p:txBody>
      </p:sp>
      <p:pic>
        <p:nvPicPr>
          <p:cNvPr id="24" name="Image 1" descr="icons/cpu.png"/>
          <p:cNvPicPr>
            <a:picLocks noChangeAspect="1"/>
          </p:cNvPicPr>
          <p:nvPr/>
        </p:nvPicPr>
        <p:blipFill>
          <a:blip r:embed="rId4"/>
          <a:stretch>
            <a:fillRect/>
          </a:stretch>
        </p:blipFill>
        <p:spPr>
          <a:xfrm>
            <a:off x="6590538" y="1835658"/>
            <a:ext cx="352044" cy="352044"/>
          </a:xfrm>
          <a:prstGeom prst="rect">
            <a:avLst/>
          </a:prstGeom>
        </p:spPr>
      </p:pic>
      <p:sp>
        <p:nvSpPr>
          <p:cNvPr id="25" name="Text 21"/>
          <p:cNvSpPr/>
          <p:nvPr/>
        </p:nvSpPr>
        <p:spPr>
          <a:xfrm>
            <a:off x="7178040" y="1737360"/>
            <a:ext cx="4114800" cy="502920"/>
          </a:xfrm>
          <a:prstGeom prst="rect">
            <a:avLst/>
          </a:prstGeom>
          <a:noFill/>
          <a:ln/>
        </p:spPr>
        <p:txBody>
          <a:bodyPr wrap="square"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Hardware Requirements</a:t>
            </a:r>
            <a:endParaRPr lang="en-US" sz="1600" dirty="0"/>
          </a:p>
        </p:txBody>
      </p:sp>
      <p:sp>
        <p:nvSpPr>
          <p:cNvPr id="26" name="Shape 22"/>
          <p:cNvSpPr/>
          <p:nvPr/>
        </p:nvSpPr>
        <p:spPr>
          <a:xfrm>
            <a:off x="6675120" y="2587752"/>
            <a:ext cx="73152" cy="73152"/>
          </a:xfrm>
          <a:prstGeom prst="ellipse">
            <a:avLst/>
          </a:prstGeom>
          <a:solidFill>
            <a:srgbClr val="065A82"/>
          </a:solidFill>
          <a:ln/>
        </p:spPr>
        <p:txBody>
          <a:bodyPr/>
          <a:lstStyle/>
          <a:p>
            <a:endParaRPr lang="en-IN"/>
          </a:p>
        </p:txBody>
      </p:sp>
      <p:sp>
        <p:nvSpPr>
          <p:cNvPr id="27" name="Text 23"/>
          <p:cNvSpPr/>
          <p:nvPr/>
        </p:nvSpPr>
        <p:spPr>
          <a:xfrm>
            <a:off x="6903720" y="2459736"/>
            <a:ext cx="4297680" cy="384048"/>
          </a:xfrm>
          <a:prstGeom prst="rect">
            <a:avLst/>
          </a:prstGeom>
          <a:noFill/>
          <a:ln/>
        </p:spPr>
        <p:txBody>
          <a:bodyPr wrap="square" rtlCol="0" anchor="ctr"/>
          <a:lstStyle/>
          <a:p>
            <a:pPr marL="0" indent="0">
              <a:buNone/>
            </a:pPr>
            <a:r>
              <a:rPr lang="en-US" sz="1250" dirty="0">
                <a:solidFill>
                  <a:srgbClr val="1E2430"/>
                </a:solidFill>
                <a:latin typeface="Calibri" pitchFamily="34" charset="0"/>
                <a:ea typeface="Calibri" pitchFamily="34" charset="-122"/>
                <a:cs typeface="Calibri" pitchFamily="34" charset="-120"/>
              </a:rPr>
              <a:t>Processor — Intel i5 / AMD Ryzen 5 or higher</a:t>
            </a:r>
            <a:endParaRPr lang="en-US" sz="1250" dirty="0"/>
          </a:p>
        </p:txBody>
      </p:sp>
      <p:sp>
        <p:nvSpPr>
          <p:cNvPr id="28" name="Shape 24"/>
          <p:cNvSpPr/>
          <p:nvPr/>
        </p:nvSpPr>
        <p:spPr>
          <a:xfrm>
            <a:off x="6675120" y="3118104"/>
            <a:ext cx="73152" cy="73152"/>
          </a:xfrm>
          <a:prstGeom prst="ellipse">
            <a:avLst/>
          </a:prstGeom>
          <a:solidFill>
            <a:srgbClr val="065A82"/>
          </a:solidFill>
          <a:ln/>
        </p:spPr>
        <p:txBody>
          <a:bodyPr/>
          <a:lstStyle/>
          <a:p>
            <a:endParaRPr lang="en-IN"/>
          </a:p>
        </p:txBody>
      </p:sp>
      <p:sp>
        <p:nvSpPr>
          <p:cNvPr id="29" name="Text 25"/>
          <p:cNvSpPr/>
          <p:nvPr/>
        </p:nvSpPr>
        <p:spPr>
          <a:xfrm>
            <a:off x="6903720" y="2990088"/>
            <a:ext cx="4297680" cy="384048"/>
          </a:xfrm>
          <a:prstGeom prst="rect">
            <a:avLst/>
          </a:prstGeom>
          <a:noFill/>
          <a:ln/>
        </p:spPr>
        <p:txBody>
          <a:bodyPr wrap="square" rtlCol="0" anchor="ctr"/>
          <a:lstStyle/>
          <a:p>
            <a:pPr marL="0" indent="0">
              <a:buNone/>
            </a:pPr>
            <a:r>
              <a:rPr lang="en-US" sz="1250" dirty="0">
                <a:solidFill>
                  <a:srgbClr val="1E2430"/>
                </a:solidFill>
                <a:latin typeface="Calibri" pitchFamily="34" charset="0"/>
                <a:ea typeface="Calibri" pitchFamily="34" charset="-122"/>
                <a:cs typeface="Calibri" pitchFamily="34" charset="-120"/>
              </a:rPr>
              <a:t>RAM — 8 GB minimum (16 GB recommended)</a:t>
            </a:r>
            <a:endParaRPr lang="en-US" sz="1250" dirty="0"/>
          </a:p>
        </p:txBody>
      </p:sp>
      <p:sp>
        <p:nvSpPr>
          <p:cNvPr id="30" name="Shape 26"/>
          <p:cNvSpPr/>
          <p:nvPr/>
        </p:nvSpPr>
        <p:spPr>
          <a:xfrm>
            <a:off x="6675120" y="3648456"/>
            <a:ext cx="73152" cy="73152"/>
          </a:xfrm>
          <a:prstGeom prst="ellipse">
            <a:avLst/>
          </a:prstGeom>
          <a:solidFill>
            <a:srgbClr val="065A82"/>
          </a:solidFill>
          <a:ln/>
        </p:spPr>
        <p:txBody>
          <a:bodyPr/>
          <a:lstStyle/>
          <a:p>
            <a:endParaRPr lang="en-IN"/>
          </a:p>
        </p:txBody>
      </p:sp>
      <p:sp>
        <p:nvSpPr>
          <p:cNvPr id="31" name="Text 27"/>
          <p:cNvSpPr/>
          <p:nvPr/>
        </p:nvSpPr>
        <p:spPr>
          <a:xfrm>
            <a:off x="6903720" y="3520440"/>
            <a:ext cx="4297680" cy="384048"/>
          </a:xfrm>
          <a:prstGeom prst="rect">
            <a:avLst/>
          </a:prstGeom>
          <a:noFill/>
          <a:ln/>
        </p:spPr>
        <p:txBody>
          <a:bodyPr wrap="square" rtlCol="0" anchor="ctr"/>
          <a:lstStyle/>
          <a:p>
            <a:pPr marL="0" indent="0">
              <a:buNone/>
            </a:pPr>
            <a:r>
              <a:rPr lang="en-US" sz="1250" dirty="0">
                <a:solidFill>
                  <a:srgbClr val="1E2430"/>
                </a:solidFill>
                <a:latin typeface="Calibri" pitchFamily="34" charset="0"/>
                <a:ea typeface="Calibri" pitchFamily="34" charset="-122"/>
                <a:cs typeface="Calibri" pitchFamily="34" charset="-120"/>
              </a:rPr>
              <a:t>Storage — 5 GB free disk space</a:t>
            </a:r>
            <a:endParaRPr lang="en-US" sz="1250" dirty="0"/>
          </a:p>
        </p:txBody>
      </p:sp>
      <p:sp>
        <p:nvSpPr>
          <p:cNvPr id="32" name="Shape 28"/>
          <p:cNvSpPr/>
          <p:nvPr/>
        </p:nvSpPr>
        <p:spPr>
          <a:xfrm>
            <a:off x="6675120" y="4178808"/>
            <a:ext cx="73152" cy="73152"/>
          </a:xfrm>
          <a:prstGeom prst="ellipse">
            <a:avLst/>
          </a:prstGeom>
          <a:solidFill>
            <a:srgbClr val="065A82"/>
          </a:solidFill>
          <a:ln/>
        </p:spPr>
        <p:txBody>
          <a:bodyPr/>
          <a:lstStyle/>
          <a:p>
            <a:endParaRPr lang="en-IN"/>
          </a:p>
        </p:txBody>
      </p:sp>
      <p:sp>
        <p:nvSpPr>
          <p:cNvPr id="33" name="Text 29"/>
          <p:cNvSpPr/>
          <p:nvPr/>
        </p:nvSpPr>
        <p:spPr>
          <a:xfrm>
            <a:off x="6903720" y="4050792"/>
            <a:ext cx="4297680" cy="384048"/>
          </a:xfrm>
          <a:prstGeom prst="rect">
            <a:avLst/>
          </a:prstGeom>
          <a:noFill/>
          <a:ln/>
        </p:spPr>
        <p:txBody>
          <a:bodyPr wrap="square" rtlCol="0" anchor="ctr"/>
          <a:lstStyle/>
          <a:p>
            <a:pPr marL="0" indent="0">
              <a:buNone/>
            </a:pPr>
            <a:r>
              <a:rPr lang="en-US" sz="1250" dirty="0">
                <a:solidFill>
                  <a:srgbClr val="1E2430"/>
                </a:solidFill>
                <a:latin typeface="Calibri" pitchFamily="34" charset="0"/>
                <a:ea typeface="Calibri" pitchFamily="34" charset="-122"/>
                <a:cs typeface="Calibri" pitchFamily="34" charset="-120"/>
              </a:rPr>
              <a:t>Graphics — integrated GPU is sufficient</a:t>
            </a:r>
            <a:endParaRPr lang="en-US" sz="1250" dirty="0"/>
          </a:p>
        </p:txBody>
      </p:sp>
      <p:sp>
        <p:nvSpPr>
          <p:cNvPr id="34" name="Shape 30"/>
          <p:cNvSpPr/>
          <p:nvPr/>
        </p:nvSpPr>
        <p:spPr>
          <a:xfrm>
            <a:off x="6675120" y="4709160"/>
            <a:ext cx="73152" cy="73152"/>
          </a:xfrm>
          <a:prstGeom prst="ellipse">
            <a:avLst/>
          </a:prstGeom>
          <a:solidFill>
            <a:srgbClr val="065A82"/>
          </a:solidFill>
          <a:ln/>
        </p:spPr>
        <p:txBody>
          <a:bodyPr/>
          <a:lstStyle/>
          <a:p>
            <a:endParaRPr lang="en-IN"/>
          </a:p>
        </p:txBody>
      </p:sp>
      <p:sp>
        <p:nvSpPr>
          <p:cNvPr id="35" name="Text 31"/>
          <p:cNvSpPr/>
          <p:nvPr/>
        </p:nvSpPr>
        <p:spPr>
          <a:xfrm>
            <a:off x="6903720" y="4581144"/>
            <a:ext cx="4297680" cy="384048"/>
          </a:xfrm>
          <a:prstGeom prst="rect">
            <a:avLst/>
          </a:prstGeom>
          <a:noFill/>
          <a:ln/>
        </p:spPr>
        <p:txBody>
          <a:bodyPr wrap="square" rtlCol="0" anchor="ctr"/>
          <a:lstStyle/>
          <a:p>
            <a:pPr marL="0" indent="0">
              <a:buNone/>
            </a:pPr>
            <a:r>
              <a:rPr lang="en-US" sz="1250" dirty="0">
                <a:solidFill>
                  <a:srgbClr val="1E2430"/>
                </a:solidFill>
                <a:latin typeface="Calibri" pitchFamily="34" charset="0"/>
                <a:ea typeface="Calibri" pitchFamily="34" charset="-122"/>
                <a:cs typeface="Calibri" pitchFamily="34" charset="-120"/>
              </a:rPr>
              <a:t>Display — 1366×768 or higher resolution</a:t>
            </a:r>
            <a:endParaRPr lang="en-US" sz="1250" dirty="0"/>
          </a:p>
        </p:txBody>
      </p:sp>
      <p:sp>
        <p:nvSpPr>
          <p:cNvPr id="36" name="Shape 32"/>
          <p:cNvSpPr/>
          <p:nvPr/>
        </p:nvSpPr>
        <p:spPr>
          <a:xfrm>
            <a:off x="6675120" y="5239512"/>
            <a:ext cx="73152" cy="73152"/>
          </a:xfrm>
          <a:prstGeom prst="ellipse">
            <a:avLst/>
          </a:prstGeom>
          <a:solidFill>
            <a:srgbClr val="065A82"/>
          </a:solidFill>
          <a:ln/>
        </p:spPr>
        <p:txBody>
          <a:bodyPr/>
          <a:lstStyle/>
          <a:p>
            <a:endParaRPr lang="en-IN"/>
          </a:p>
        </p:txBody>
      </p:sp>
      <p:sp>
        <p:nvSpPr>
          <p:cNvPr id="37" name="Text 33"/>
          <p:cNvSpPr/>
          <p:nvPr/>
        </p:nvSpPr>
        <p:spPr>
          <a:xfrm>
            <a:off x="6903720" y="5111496"/>
            <a:ext cx="4297680" cy="384048"/>
          </a:xfrm>
          <a:prstGeom prst="rect">
            <a:avLst/>
          </a:prstGeom>
          <a:noFill/>
          <a:ln/>
        </p:spPr>
        <p:txBody>
          <a:bodyPr wrap="square" rtlCol="0" anchor="ctr"/>
          <a:lstStyle/>
          <a:p>
            <a:pPr marL="0" indent="0">
              <a:buNone/>
            </a:pPr>
            <a:r>
              <a:rPr lang="en-US" sz="1250" dirty="0">
                <a:solidFill>
                  <a:srgbClr val="1E2430"/>
                </a:solidFill>
                <a:latin typeface="Calibri" pitchFamily="34" charset="0"/>
                <a:ea typeface="Calibri" pitchFamily="34" charset="-122"/>
                <a:cs typeface="Calibri" pitchFamily="34" charset="-120"/>
              </a:rPr>
              <a:t>Internet connection for data collection &amp; libraries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64008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Literature Survey</a:t>
            </a:r>
            <a:endParaRPr lang="en-US" sz="3200" dirty="0"/>
          </a:p>
        </p:txBody>
      </p:sp>
      <p:sp>
        <p:nvSpPr>
          <p:cNvPr id="3" name="Shape 1"/>
          <p:cNvSpPr/>
          <p:nvPr/>
        </p:nvSpPr>
        <p:spPr>
          <a:xfrm>
            <a:off x="658368" y="1097280"/>
            <a:ext cx="822960" cy="64008"/>
          </a:xfrm>
          <a:prstGeom prst="rect">
            <a:avLst/>
          </a:prstGeom>
          <a:solidFill>
            <a:srgbClr val="1C7293"/>
          </a:solidFill>
          <a:ln/>
        </p:spPr>
        <p:txBody>
          <a:bodyPr/>
          <a:lstStyle/>
          <a:p>
            <a:endParaRPr lang="en-IN"/>
          </a:p>
        </p:txBody>
      </p:sp>
      <p:sp>
        <p:nvSpPr>
          <p:cNvPr id="4" name="Shape 2"/>
          <p:cNvSpPr/>
          <p:nvPr/>
        </p:nvSpPr>
        <p:spPr>
          <a:xfrm>
            <a:off x="10012680" y="228600"/>
            <a:ext cx="1371600" cy="1371600"/>
          </a:xfrm>
          <a:prstGeom prst="ellipse">
            <a:avLst/>
          </a:prstGeom>
          <a:solidFill>
            <a:srgbClr val="1C7293"/>
          </a:solidFill>
          <a:ln/>
        </p:spPr>
        <p:txBody>
          <a:bodyPr/>
          <a:lstStyle/>
          <a:p>
            <a:endParaRPr lang="en-IN"/>
          </a:p>
        </p:txBody>
      </p:sp>
      <p:pic>
        <p:nvPicPr>
          <p:cNvPr id="5" name="Image 0" descr="icons/book.png"/>
          <p:cNvPicPr>
            <a:picLocks noChangeAspect="1"/>
          </p:cNvPicPr>
          <p:nvPr/>
        </p:nvPicPr>
        <p:blipFill>
          <a:blip r:embed="rId3"/>
          <a:stretch>
            <a:fillRect/>
          </a:stretch>
        </p:blipFill>
        <p:spPr>
          <a:xfrm>
            <a:off x="10321290" y="537210"/>
            <a:ext cx="754380" cy="754380"/>
          </a:xfrm>
          <a:prstGeom prst="rect">
            <a:avLst/>
          </a:prstGeom>
        </p:spPr>
      </p:pic>
      <p:sp>
        <p:nvSpPr>
          <p:cNvPr id="6" name="Shape 3"/>
          <p:cNvSpPr/>
          <p:nvPr/>
        </p:nvSpPr>
        <p:spPr>
          <a:xfrm>
            <a:off x="640080" y="1508760"/>
            <a:ext cx="5257800" cy="1965960"/>
          </a:xfrm>
          <a:prstGeom prst="roundRect">
            <a:avLst>
              <a:gd name="adj" fmla="val 4651"/>
            </a:avLst>
          </a:prstGeom>
          <a:solidFill>
            <a:srgbClr val="F7FAFC"/>
          </a:solidFill>
          <a:ln w="12700">
            <a:solidFill>
              <a:srgbClr val="CFE8EF"/>
            </a:solidFill>
            <a:prstDash val="solid"/>
          </a:ln>
        </p:spPr>
        <p:txBody>
          <a:bodyPr/>
          <a:lstStyle/>
          <a:p>
            <a:endParaRPr lang="en-IN"/>
          </a:p>
        </p:txBody>
      </p:sp>
      <p:sp>
        <p:nvSpPr>
          <p:cNvPr id="7" name="Shape 4"/>
          <p:cNvSpPr/>
          <p:nvPr/>
        </p:nvSpPr>
        <p:spPr>
          <a:xfrm>
            <a:off x="914400" y="1764792"/>
            <a:ext cx="411480" cy="411480"/>
          </a:xfrm>
          <a:prstGeom prst="roundRect">
            <a:avLst>
              <a:gd name="adj" fmla="val 17778"/>
            </a:avLst>
          </a:prstGeom>
          <a:solidFill>
            <a:srgbClr val="065A82"/>
          </a:solidFill>
          <a:ln/>
        </p:spPr>
        <p:txBody>
          <a:bodyPr/>
          <a:lstStyle/>
          <a:p>
            <a:endParaRPr lang="en-IN"/>
          </a:p>
        </p:txBody>
      </p:sp>
      <p:sp>
        <p:nvSpPr>
          <p:cNvPr id="8" name="Text 5"/>
          <p:cNvSpPr/>
          <p:nvPr/>
        </p:nvSpPr>
        <p:spPr>
          <a:xfrm>
            <a:off x="914400" y="1764792"/>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6"/>
          <p:cNvSpPr/>
          <p:nvPr/>
        </p:nvSpPr>
        <p:spPr>
          <a:xfrm>
            <a:off x="1508760" y="1709928"/>
            <a:ext cx="4114800" cy="502920"/>
          </a:xfrm>
          <a:prstGeom prst="rect">
            <a:avLst/>
          </a:prstGeom>
          <a:noFill/>
          <a:ln/>
        </p:spPr>
        <p:txBody>
          <a:bodyPr wrap="square" rtlCol="0" anchor="t"/>
          <a:lstStyle/>
          <a:p>
            <a:pPr marL="0" indent="0">
              <a:buNone/>
            </a:pPr>
            <a:r>
              <a:rPr lang="en-US" sz="1400" b="1" dirty="0">
                <a:solidFill>
                  <a:srgbClr val="21295C"/>
                </a:solidFill>
                <a:latin typeface="Calibri" pitchFamily="34" charset="0"/>
                <a:ea typeface="Calibri" pitchFamily="34" charset="-122"/>
                <a:cs typeface="Calibri" pitchFamily="34" charset="-120"/>
              </a:rPr>
              <a:t>Girvan–Newman Algorithm (2002)</a:t>
            </a:r>
            <a:endParaRPr lang="en-US" sz="1400" dirty="0"/>
          </a:p>
        </p:txBody>
      </p:sp>
      <p:sp>
        <p:nvSpPr>
          <p:cNvPr id="10" name="Text 7"/>
          <p:cNvSpPr/>
          <p:nvPr/>
        </p:nvSpPr>
        <p:spPr>
          <a:xfrm>
            <a:off x="914400" y="2286000"/>
            <a:ext cx="4709160" cy="1005840"/>
          </a:xfrm>
          <a:prstGeom prst="rect">
            <a:avLst/>
          </a:prstGeom>
          <a:noFill/>
          <a:ln/>
        </p:spPr>
        <p:txBody>
          <a:bodyPr wrap="square" rtlCol="0" anchor="t"/>
          <a:lstStyle/>
          <a:p>
            <a:pPr marL="0" indent="0">
              <a:lnSpc>
                <a:spcPct val="120000"/>
              </a:lnSpc>
              <a:buNone/>
            </a:pPr>
            <a:r>
              <a:rPr lang="en-US" sz="1200" dirty="0">
                <a:solidFill>
                  <a:srgbClr val="5B6B76"/>
                </a:solidFill>
                <a:latin typeface="Calibri" pitchFamily="34" charset="0"/>
                <a:ea typeface="Calibri" pitchFamily="34" charset="-122"/>
                <a:cs typeface="Calibri" pitchFamily="34" charset="-120"/>
              </a:rPr>
              <a:t>Detects communities by progressively removing edges with the highest betweenness centrality; accurate but computationally expensive on large graphs.</a:t>
            </a:r>
            <a:endParaRPr lang="en-US" sz="1200" dirty="0"/>
          </a:p>
        </p:txBody>
      </p:sp>
      <p:sp>
        <p:nvSpPr>
          <p:cNvPr id="11" name="Shape 8"/>
          <p:cNvSpPr/>
          <p:nvPr/>
        </p:nvSpPr>
        <p:spPr>
          <a:xfrm>
            <a:off x="6263640" y="1508760"/>
            <a:ext cx="5257800" cy="1965960"/>
          </a:xfrm>
          <a:prstGeom prst="roundRect">
            <a:avLst>
              <a:gd name="adj" fmla="val 4651"/>
            </a:avLst>
          </a:prstGeom>
          <a:solidFill>
            <a:srgbClr val="F7FAFC"/>
          </a:solidFill>
          <a:ln w="12700">
            <a:solidFill>
              <a:srgbClr val="CFE8EF"/>
            </a:solidFill>
            <a:prstDash val="solid"/>
          </a:ln>
        </p:spPr>
        <p:txBody>
          <a:bodyPr/>
          <a:lstStyle/>
          <a:p>
            <a:endParaRPr lang="en-IN"/>
          </a:p>
        </p:txBody>
      </p:sp>
      <p:sp>
        <p:nvSpPr>
          <p:cNvPr id="12" name="Shape 9"/>
          <p:cNvSpPr/>
          <p:nvPr/>
        </p:nvSpPr>
        <p:spPr>
          <a:xfrm>
            <a:off x="6537960" y="1764792"/>
            <a:ext cx="411480" cy="411480"/>
          </a:xfrm>
          <a:prstGeom prst="roundRect">
            <a:avLst>
              <a:gd name="adj" fmla="val 17778"/>
            </a:avLst>
          </a:prstGeom>
          <a:solidFill>
            <a:srgbClr val="1C7293"/>
          </a:solidFill>
          <a:ln/>
        </p:spPr>
        <p:txBody>
          <a:bodyPr/>
          <a:lstStyle/>
          <a:p>
            <a:endParaRPr lang="en-IN"/>
          </a:p>
        </p:txBody>
      </p:sp>
      <p:sp>
        <p:nvSpPr>
          <p:cNvPr id="13" name="Text 10"/>
          <p:cNvSpPr/>
          <p:nvPr/>
        </p:nvSpPr>
        <p:spPr>
          <a:xfrm>
            <a:off x="6537960" y="1764792"/>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1"/>
          <p:cNvSpPr/>
          <p:nvPr/>
        </p:nvSpPr>
        <p:spPr>
          <a:xfrm>
            <a:off x="7132320" y="1709928"/>
            <a:ext cx="4114800" cy="502920"/>
          </a:xfrm>
          <a:prstGeom prst="rect">
            <a:avLst/>
          </a:prstGeom>
          <a:noFill/>
          <a:ln/>
        </p:spPr>
        <p:txBody>
          <a:bodyPr wrap="square" rtlCol="0" anchor="t"/>
          <a:lstStyle/>
          <a:p>
            <a:pPr marL="0" indent="0">
              <a:buNone/>
            </a:pPr>
            <a:r>
              <a:rPr lang="en-US" sz="1400" b="1" dirty="0">
                <a:solidFill>
                  <a:srgbClr val="21295C"/>
                </a:solidFill>
                <a:latin typeface="Calibri" pitchFamily="34" charset="0"/>
                <a:ea typeface="Calibri" pitchFamily="34" charset="-122"/>
                <a:cs typeface="Calibri" pitchFamily="34" charset="-120"/>
              </a:rPr>
              <a:t>Louvain Method (Blondel et al., 2008)</a:t>
            </a:r>
            <a:endParaRPr lang="en-US" sz="1400" dirty="0"/>
          </a:p>
        </p:txBody>
      </p:sp>
      <p:sp>
        <p:nvSpPr>
          <p:cNvPr id="15" name="Text 12"/>
          <p:cNvSpPr/>
          <p:nvPr/>
        </p:nvSpPr>
        <p:spPr>
          <a:xfrm>
            <a:off x="6537960" y="2286000"/>
            <a:ext cx="4709160" cy="1005840"/>
          </a:xfrm>
          <a:prstGeom prst="rect">
            <a:avLst/>
          </a:prstGeom>
          <a:noFill/>
          <a:ln/>
        </p:spPr>
        <p:txBody>
          <a:bodyPr wrap="square" rtlCol="0" anchor="t"/>
          <a:lstStyle/>
          <a:p>
            <a:pPr marL="0" indent="0">
              <a:lnSpc>
                <a:spcPct val="120000"/>
              </a:lnSpc>
              <a:buNone/>
            </a:pPr>
            <a:r>
              <a:rPr lang="en-US" sz="1200" dirty="0">
                <a:solidFill>
                  <a:srgbClr val="5B6B76"/>
                </a:solidFill>
                <a:latin typeface="Calibri" pitchFamily="34" charset="0"/>
                <a:ea typeface="Calibri" pitchFamily="34" charset="-122"/>
                <a:cs typeface="Calibri" pitchFamily="34" charset="-120"/>
              </a:rPr>
              <a:t>A fast, greedy modularity-optimization approach widely used for large-scale community detection.</a:t>
            </a:r>
            <a:endParaRPr lang="en-US" sz="1200" dirty="0"/>
          </a:p>
        </p:txBody>
      </p:sp>
      <p:sp>
        <p:nvSpPr>
          <p:cNvPr id="16" name="Shape 13"/>
          <p:cNvSpPr/>
          <p:nvPr/>
        </p:nvSpPr>
        <p:spPr>
          <a:xfrm>
            <a:off x="640080" y="3749040"/>
            <a:ext cx="5257800" cy="1965960"/>
          </a:xfrm>
          <a:prstGeom prst="roundRect">
            <a:avLst>
              <a:gd name="adj" fmla="val 4651"/>
            </a:avLst>
          </a:prstGeom>
          <a:solidFill>
            <a:srgbClr val="F7FAFC"/>
          </a:solidFill>
          <a:ln w="12700">
            <a:solidFill>
              <a:srgbClr val="CFE8EF"/>
            </a:solidFill>
            <a:prstDash val="solid"/>
          </a:ln>
        </p:spPr>
        <p:txBody>
          <a:bodyPr/>
          <a:lstStyle/>
          <a:p>
            <a:endParaRPr lang="en-IN"/>
          </a:p>
        </p:txBody>
      </p:sp>
      <p:sp>
        <p:nvSpPr>
          <p:cNvPr id="17" name="Shape 14"/>
          <p:cNvSpPr/>
          <p:nvPr/>
        </p:nvSpPr>
        <p:spPr>
          <a:xfrm>
            <a:off x="914400" y="4005072"/>
            <a:ext cx="411480" cy="411480"/>
          </a:xfrm>
          <a:prstGeom prst="roundRect">
            <a:avLst>
              <a:gd name="adj" fmla="val 17778"/>
            </a:avLst>
          </a:prstGeom>
          <a:solidFill>
            <a:srgbClr val="065A82"/>
          </a:solidFill>
          <a:ln/>
        </p:spPr>
        <p:txBody>
          <a:bodyPr/>
          <a:lstStyle/>
          <a:p>
            <a:endParaRPr lang="en-IN"/>
          </a:p>
        </p:txBody>
      </p:sp>
      <p:sp>
        <p:nvSpPr>
          <p:cNvPr id="18" name="Text 15"/>
          <p:cNvSpPr/>
          <p:nvPr/>
        </p:nvSpPr>
        <p:spPr>
          <a:xfrm>
            <a:off x="914400" y="4005072"/>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6"/>
          <p:cNvSpPr/>
          <p:nvPr/>
        </p:nvSpPr>
        <p:spPr>
          <a:xfrm>
            <a:off x="1508760" y="3950208"/>
            <a:ext cx="4114800" cy="502920"/>
          </a:xfrm>
          <a:prstGeom prst="rect">
            <a:avLst/>
          </a:prstGeom>
          <a:noFill/>
          <a:ln/>
        </p:spPr>
        <p:txBody>
          <a:bodyPr wrap="square" rtlCol="0" anchor="t"/>
          <a:lstStyle/>
          <a:p>
            <a:pPr marL="0" indent="0">
              <a:buNone/>
            </a:pPr>
            <a:r>
              <a:rPr lang="en-US" sz="1400" b="1" dirty="0">
                <a:solidFill>
                  <a:srgbClr val="21295C"/>
                </a:solidFill>
                <a:latin typeface="Calibri" pitchFamily="34" charset="0"/>
                <a:ea typeface="Calibri" pitchFamily="34" charset="-122"/>
                <a:cs typeface="Calibri" pitchFamily="34" charset="-120"/>
              </a:rPr>
              <a:t>Label Propagation Algorithm</a:t>
            </a:r>
            <a:endParaRPr lang="en-US" sz="1400" dirty="0"/>
          </a:p>
        </p:txBody>
      </p:sp>
      <p:sp>
        <p:nvSpPr>
          <p:cNvPr id="20" name="Text 17"/>
          <p:cNvSpPr/>
          <p:nvPr/>
        </p:nvSpPr>
        <p:spPr>
          <a:xfrm>
            <a:off x="914400" y="4526280"/>
            <a:ext cx="4709160" cy="1005840"/>
          </a:xfrm>
          <a:prstGeom prst="rect">
            <a:avLst/>
          </a:prstGeom>
          <a:noFill/>
          <a:ln/>
        </p:spPr>
        <p:txBody>
          <a:bodyPr wrap="square" rtlCol="0" anchor="t"/>
          <a:lstStyle/>
          <a:p>
            <a:pPr marL="0" indent="0">
              <a:lnSpc>
                <a:spcPct val="120000"/>
              </a:lnSpc>
              <a:buNone/>
            </a:pPr>
            <a:r>
              <a:rPr lang="en-US" sz="1200" dirty="0">
                <a:solidFill>
                  <a:srgbClr val="5B6B76"/>
                </a:solidFill>
                <a:latin typeface="Calibri" pitchFamily="34" charset="0"/>
                <a:ea typeface="Calibri" pitchFamily="34" charset="-122"/>
                <a:cs typeface="Calibri" pitchFamily="34" charset="-120"/>
              </a:rPr>
              <a:t>Nodes adopt the most frequent label among neighbours; near-linear time, useful for very large networks.</a:t>
            </a:r>
            <a:endParaRPr lang="en-US" sz="1200" dirty="0"/>
          </a:p>
        </p:txBody>
      </p:sp>
      <p:sp>
        <p:nvSpPr>
          <p:cNvPr id="21" name="Shape 18"/>
          <p:cNvSpPr/>
          <p:nvPr/>
        </p:nvSpPr>
        <p:spPr>
          <a:xfrm>
            <a:off x="6263640" y="3749040"/>
            <a:ext cx="5257800" cy="1965960"/>
          </a:xfrm>
          <a:prstGeom prst="roundRect">
            <a:avLst>
              <a:gd name="adj" fmla="val 4651"/>
            </a:avLst>
          </a:prstGeom>
          <a:solidFill>
            <a:srgbClr val="F7FAFC"/>
          </a:solidFill>
          <a:ln w="12700">
            <a:solidFill>
              <a:srgbClr val="CFE8EF"/>
            </a:solidFill>
            <a:prstDash val="solid"/>
          </a:ln>
        </p:spPr>
        <p:txBody>
          <a:bodyPr/>
          <a:lstStyle/>
          <a:p>
            <a:endParaRPr lang="en-IN"/>
          </a:p>
        </p:txBody>
      </p:sp>
      <p:sp>
        <p:nvSpPr>
          <p:cNvPr id="22" name="Shape 19"/>
          <p:cNvSpPr/>
          <p:nvPr/>
        </p:nvSpPr>
        <p:spPr>
          <a:xfrm>
            <a:off x="6537960" y="4005072"/>
            <a:ext cx="411480" cy="411480"/>
          </a:xfrm>
          <a:prstGeom prst="roundRect">
            <a:avLst>
              <a:gd name="adj" fmla="val 17778"/>
            </a:avLst>
          </a:prstGeom>
          <a:solidFill>
            <a:srgbClr val="1C7293"/>
          </a:solidFill>
          <a:ln/>
        </p:spPr>
        <p:txBody>
          <a:bodyPr/>
          <a:lstStyle/>
          <a:p>
            <a:endParaRPr lang="en-IN"/>
          </a:p>
        </p:txBody>
      </p:sp>
      <p:sp>
        <p:nvSpPr>
          <p:cNvPr id="23" name="Text 20"/>
          <p:cNvSpPr/>
          <p:nvPr/>
        </p:nvSpPr>
        <p:spPr>
          <a:xfrm>
            <a:off x="6537960" y="4005072"/>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4" name="Text 21"/>
          <p:cNvSpPr/>
          <p:nvPr/>
        </p:nvSpPr>
        <p:spPr>
          <a:xfrm>
            <a:off x="7132320" y="3950208"/>
            <a:ext cx="4114800" cy="502920"/>
          </a:xfrm>
          <a:prstGeom prst="rect">
            <a:avLst/>
          </a:prstGeom>
          <a:noFill/>
          <a:ln/>
        </p:spPr>
        <p:txBody>
          <a:bodyPr wrap="square" rtlCol="0" anchor="t"/>
          <a:lstStyle/>
          <a:p>
            <a:pPr marL="0" indent="0">
              <a:buNone/>
            </a:pPr>
            <a:r>
              <a:rPr lang="en-US" sz="1400" b="1" dirty="0">
                <a:solidFill>
                  <a:srgbClr val="21295C"/>
                </a:solidFill>
                <a:latin typeface="Calibri" pitchFamily="34" charset="0"/>
                <a:ea typeface="Calibri" pitchFamily="34" charset="-122"/>
                <a:cs typeface="Calibri" pitchFamily="34" charset="-120"/>
              </a:rPr>
              <a:t>Existing Tools — Gephi &amp; Neo4j</a:t>
            </a:r>
            <a:endParaRPr lang="en-US" sz="1400" dirty="0"/>
          </a:p>
        </p:txBody>
      </p:sp>
      <p:sp>
        <p:nvSpPr>
          <p:cNvPr id="25" name="Text 22"/>
          <p:cNvSpPr/>
          <p:nvPr/>
        </p:nvSpPr>
        <p:spPr>
          <a:xfrm>
            <a:off x="6537960" y="4526280"/>
            <a:ext cx="4709160" cy="1005840"/>
          </a:xfrm>
          <a:prstGeom prst="rect">
            <a:avLst/>
          </a:prstGeom>
          <a:noFill/>
          <a:ln/>
        </p:spPr>
        <p:txBody>
          <a:bodyPr wrap="square" rtlCol="0" anchor="t"/>
          <a:lstStyle/>
          <a:p>
            <a:pPr marL="0" indent="0">
              <a:lnSpc>
                <a:spcPct val="120000"/>
              </a:lnSpc>
              <a:buNone/>
            </a:pPr>
            <a:r>
              <a:rPr lang="en-US" sz="1200" dirty="0">
                <a:solidFill>
                  <a:srgbClr val="5B6B76"/>
                </a:solidFill>
                <a:latin typeface="Calibri" pitchFamily="34" charset="0"/>
                <a:ea typeface="Calibri" pitchFamily="34" charset="-122"/>
                <a:cs typeface="Calibri" pitchFamily="34" charset="-120"/>
              </a:rPr>
              <a:t>Provide graph visualization and analytics, but lack a lightweight, interaction-weighted, purpose-built community detection workflow.</a:t>
            </a:r>
            <a:endParaRPr lang="en-US" sz="1200" dirty="0"/>
          </a:p>
        </p:txBody>
      </p:sp>
      <p:sp>
        <p:nvSpPr>
          <p:cNvPr id="26" name="Text 23"/>
          <p:cNvSpPr/>
          <p:nvPr/>
        </p:nvSpPr>
        <p:spPr>
          <a:xfrm>
            <a:off x="640080" y="6035040"/>
            <a:ext cx="10881360" cy="457200"/>
          </a:xfrm>
          <a:prstGeom prst="rect">
            <a:avLst/>
          </a:prstGeom>
          <a:noFill/>
          <a:ln/>
        </p:spPr>
        <p:txBody>
          <a:bodyPr wrap="square" rtlCol="0" anchor="ctr"/>
          <a:lstStyle/>
          <a:p>
            <a:pPr marL="0" indent="0" algn="ctr">
              <a:buNone/>
            </a:pPr>
            <a:r>
              <a:rPr lang="en-US" sz="1250" i="1" dirty="0">
                <a:solidFill>
                  <a:srgbClr val="065A82"/>
                </a:solidFill>
                <a:latin typeface="Calibri" pitchFamily="34" charset="0"/>
                <a:ea typeface="Calibri" pitchFamily="34" charset="-122"/>
                <a:cs typeface="Calibri" pitchFamily="34" charset="-120"/>
              </a:rPr>
              <a:t>Gap identified: most tools separate visualization from weighted, metric-driven community analysis — motivating this platform.</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64008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Methodology</a:t>
            </a:r>
            <a:endParaRPr lang="en-US" sz="3200" dirty="0"/>
          </a:p>
        </p:txBody>
      </p:sp>
      <p:sp>
        <p:nvSpPr>
          <p:cNvPr id="3" name="Shape 1"/>
          <p:cNvSpPr/>
          <p:nvPr/>
        </p:nvSpPr>
        <p:spPr>
          <a:xfrm>
            <a:off x="658368" y="1097280"/>
            <a:ext cx="822960" cy="64008"/>
          </a:xfrm>
          <a:prstGeom prst="rect">
            <a:avLst/>
          </a:prstGeom>
          <a:solidFill>
            <a:srgbClr val="1C7293"/>
          </a:solidFill>
          <a:ln/>
        </p:spPr>
        <p:txBody>
          <a:bodyPr/>
          <a:lstStyle/>
          <a:p>
            <a:endParaRPr lang="en-IN"/>
          </a:p>
        </p:txBody>
      </p:sp>
      <p:sp>
        <p:nvSpPr>
          <p:cNvPr id="4" name="Shape 2"/>
          <p:cNvSpPr/>
          <p:nvPr/>
        </p:nvSpPr>
        <p:spPr>
          <a:xfrm>
            <a:off x="10012680" y="228600"/>
            <a:ext cx="1371600" cy="1371600"/>
          </a:xfrm>
          <a:prstGeom prst="ellipse">
            <a:avLst/>
          </a:prstGeom>
          <a:solidFill>
            <a:srgbClr val="065A82"/>
          </a:solidFill>
          <a:ln/>
        </p:spPr>
        <p:txBody>
          <a:bodyPr/>
          <a:lstStyle/>
          <a:p>
            <a:endParaRPr lang="en-IN"/>
          </a:p>
        </p:txBody>
      </p:sp>
      <p:pic>
        <p:nvPicPr>
          <p:cNvPr id="5" name="Image 0" descr="icons/cogs.png"/>
          <p:cNvPicPr>
            <a:picLocks noChangeAspect="1"/>
          </p:cNvPicPr>
          <p:nvPr/>
        </p:nvPicPr>
        <p:blipFill>
          <a:blip r:embed="rId3"/>
          <a:stretch>
            <a:fillRect/>
          </a:stretch>
        </p:blipFill>
        <p:spPr>
          <a:xfrm>
            <a:off x="10321290" y="537210"/>
            <a:ext cx="754380" cy="754380"/>
          </a:xfrm>
          <a:prstGeom prst="rect">
            <a:avLst/>
          </a:prstGeom>
        </p:spPr>
      </p:pic>
      <p:sp>
        <p:nvSpPr>
          <p:cNvPr id="6" name="Shape 3"/>
          <p:cNvSpPr/>
          <p:nvPr/>
        </p:nvSpPr>
        <p:spPr>
          <a:xfrm>
            <a:off x="640080" y="2194560"/>
            <a:ext cx="1965960" cy="2286000"/>
          </a:xfrm>
          <a:prstGeom prst="roundRect">
            <a:avLst>
              <a:gd name="adj" fmla="val 4651"/>
            </a:avLst>
          </a:prstGeom>
          <a:solidFill>
            <a:srgbClr val="FFFFFF"/>
          </a:solidFill>
          <a:ln w="12700">
            <a:solidFill>
              <a:srgbClr val="CFE8EF"/>
            </a:solidFill>
            <a:prstDash val="solid"/>
          </a:ln>
          <a:effectLst>
            <a:outerShdw blurRad="76200" dist="25400" dir="5400000" algn="bl" rotWithShape="0">
              <a:srgbClr val="8AA0AC">
                <a:alpha val="20000"/>
              </a:srgbClr>
            </a:outerShdw>
          </a:effectLst>
        </p:spPr>
        <p:txBody>
          <a:bodyPr/>
          <a:lstStyle/>
          <a:p>
            <a:endParaRPr lang="en-IN"/>
          </a:p>
        </p:txBody>
      </p:sp>
      <p:sp>
        <p:nvSpPr>
          <p:cNvPr id="7" name="Shape 4"/>
          <p:cNvSpPr/>
          <p:nvPr/>
        </p:nvSpPr>
        <p:spPr>
          <a:xfrm>
            <a:off x="1367028" y="2423160"/>
            <a:ext cx="512064" cy="512064"/>
          </a:xfrm>
          <a:prstGeom prst="ellipse">
            <a:avLst/>
          </a:prstGeom>
          <a:solidFill>
            <a:srgbClr val="1C7293"/>
          </a:solidFill>
          <a:ln/>
        </p:spPr>
        <p:txBody>
          <a:bodyPr/>
          <a:lstStyle/>
          <a:p>
            <a:endParaRPr lang="en-IN"/>
          </a:p>
        </p:txBody>
      </p:sp>
      <p:sp>
        <p:nvSpPr>
          <p:cNvPr id="8" name="Text 5"/>
          <p:cNvSpPr/>
          <p:nvPr/>
        </p:nvSpPr>
        <p:spPr>
          <a:xfrm>
            <a:off x="1367028" y="2423160"/>
            <a:ext cx="512064" cy="512064"/>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6"/>
          <p:cNvSpPr/>
          <p:nvPr/>
        </p:nvSpPr>
        <p:spPr>
          <a:xfrm>
            <a:off x="749808" y="3063240"/>
            <a:ext cx="1746504" cy="502920"/>
          </a:xfrm>
          <a:prstGeom prst="rect">
            <a:avLst/>
          </a:prstGeom>
          <a:noFill/>
          <a:ln/>
        </p:spPr>
        <p:txBody>
          <a:bodyPr wrap="square" rtlCol="0" anchor="t"/>
          <a:lstStyle/>
          <a:p>
            <a:pPr marL="0" indent="0" algn="ctr">
              <a:buNone/>
            </a:pPr>
            <a:r>
              <a:rPr lang="en-US" sz="1300" b="1" dirty="0">
                <a:solidFill>
                  <a:srgbClr val="21295C"/>
                </a:solidFill>
                <a:latin typeface="Calibri" pitchFamily="34" charset="0"/>
                <a:ea typeface="Calibri" pitchFamily="34" charset="-122"/>
                <a:cs typeface="Calibri" pitchFamily="34" charset="-120"/>
              </a:rPr>
              <a:t>Data Collection</a:t>
            </a:r>
            <a:endParaRPr lang="en-US" sz="1300" dirty="0"/>
          </a:p>
        </p:txBody>
      </p:sp>
      <p:sp>
        <p:nvSpPr>
          <p:cNvPr id="10" name="Text 7"/>
          <p:cNvSpPr/>
          <p:nvPr/>
        </p:nvSpPr>
        <p:spPr>
          <a:xfrm>
            <a:off x="777240" y="3547872"/>
            <a:ext cx="1691640" cy="868680"/>
          </a:xfrm>
          <a:prstGeom prst="rect">
            <a:avLst/>
          </a:prstGeom>
          <a:noFill/>
          <a:ln/>
        </p:spPr>
        <p:txBody>
          <a:bodyPr wrap="square" rtlCol="0" anchor="t"/>
          <a:lstStyle/>
          <a:p>
            <a:pPr marL="0" indent="0" algn="ctr">
              <a:lnSpc>
                <a:spcPct val="110000"/>
              </a:lnSpc>
              <a:buNone/>
            </a:pPr>
            <a:r>
              <a:rPr lang="en-US" sz="1050" dirty="0">
                <a:solidFill>
                  <a:srgbClr val="5B6B76"/>
                </a:solidFill>
                <a:latin typeface="Calibri" pitchFamily="34" charset="0"/>
                <a:ea typeface="Calibri" pitchFamily="34" charset="-122"/>
                <a:cs typeface="Calibri" pitchFamily="34" charset="-120"/>
              </a:rPr>
              <a:t>Gather user interaction data (messages, likes, comments)</a:t>
            </a:r>
            <a:endParaRPr lang="en-US" sz="1050" dirty="0"/>
          </a:p>
        </p:txBody>
      </p:sp>
      <p:sp>
        <p:nvSpPr>
          <p:cNvPr id="11" name="Shape 8"/>
          <p:cNvSpPr/>
          <p:nvPr/>
        </p:nvSpPr>
        <p:spPr>
          <a:xfrm>
            <a:off x="2624328" y="3227832"/>
            <a:ext cx="219456" cy="219456"/>
          </a:xfrm>
          <a:prstGeom prst="rightArrow">
            <a:avLst/>
          </a:prstGeom>
          <a:solidFill>
            <a:srgbClr val="1C7293"/>
          </a:solidFill>
          <a:ln/>
        </p:spPr>
        <p:txBody>
          <a:bodyPr/>
          <a:lstStyle/>
          <a:p>
            <a:endParaRPr lang="en-IN"/>
          </a:p>
        </p:txBody>
      </p:sp>
      <p:sp>
        <p:nvSpPr>
          <p:cNvPr id="12" name="Shape 9"/>
          <p:cNvSpPr/>
          <p:nvPr/>
        </p:nvSpPr>
        <p:spPr>
          <a:xfrm>
            <a:off x="2862072" y="2194560"/>
            <a:ext cx="1965960" cy="2286000"/>
          </a:xfrm>
          <a:prstGeom prst="roundRect">
            <a:avLst>
              <a:gd name="adj" fmla="val 4651"/>
            </a:avLst>
          </a:prstGeom>
          <a:solidFill>
            <a:srgbClr val="FFFFFF"/>
          </a:solidFill>
          <a:ln w="12700">
            <a:solidFill>
              <a:srgbClr val="CFE8EF"/>
            </a:solidFill>
            <a:prstDash val="solid"/>
          </a:ln>
          <a:effectLst>
            <a:outerShdw blurRad="76200" dist="25400" dir="5400000" algn="bl" rotWithShape="0">
              <a:srgbClr val="8AA0AC">
                <a:alpha val="20000"/>
              </a:srgbClr>
            </a:outerShdw>
          </a:effectLst>
        </p:spPr>
        <p:txBody>
          <a:bodyPr/>
          <a:lstStyle/>
          <a:p>
            <a:endParaRPr lang="en-IN"/>
          </a:p>
        </p:txBody>
      </p:sp>
      <p:sp>
        <p:nvSpPr>
          <p:cNvPr id="13" name="Shape 10"/>
          <p:cNvSpPr/>
          <p:nvPr/>
        </p:nvSpPr>
        <p:spPr>
          <a:xfrm>
            <a:off x="3589020" y="2423160"/>
            <a:ext cx="512064" cy="512064"/>
          </a:xfrm>
          <a:prstGeom prst="ellipse">
            <a:avLst/>
          </a:prstGeom>
          <a:solidFill>
            <a:srgbClr val="1C7293"/>
          </a:solidFill>
          <a:ln/>
        </p:spPr>
        <p:txBody>
          <a:bodyPr/>
          <a:lstStyle/>
          <a:p>
            <a:endParaRPr lang="en-IN"/>
          </a:p>
        </p:txBody>
      </p:sp>
      <p:sp>
        <p:nvSpPr>
          <p:cNvPr id="14" name="Text 11"/>
          <p:cNvSpPr/>
          <p:nvPr/>
        </p:nvSpPr>
        <p:spPr>
          <a:xfrm>
            <a:off x="3589020" y="2423160"/>
            <a:ext cx="512064" cy="512064"/>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Text 12"/>
          <p:cNvSpPr/>
          <p:nvPr/>
        </p:nvSpPr>
        <p:spPr>
          <a:xfrm>
            <a:off x="2971800" y="3063240"/>
            <a:ext cx="1746504" cy="502920"/>
          </a:xfrm>
          <a:prstGeom prst="rect">
            <a:avLst/>
          </a:prstGeom>
          <a:noFill/>
          <a:ln/>
        </p:spPr>
        <p:txBody>
          <a:bodyPr wrap="square" rtlCol="0" anchor="t"/>
          <a:lstStyle/>
          <a:p>
            <a:pPr marL="0" indent="0" algn="ctr">
              <a:buNone/>
            </a:pPr>
            <a:r>
              <a:rPr lang="en-US" sz="1300" b="1" dirty="0">
                <a:solidFill>
                  <a:srgbClr val="21295C"/>
                </a:solidFill>
                <a:latin typeface="Calibri" pitchFamily="34" charset="0"/>
                <a:ea typeface="Calibri" pitchFamily="34" charset="-122"/>
                <a:cs typeface="Calibri" pitchFamily="34" charset="-120"/>
              </a:rPr>
              <a:t>Graph Construction</a:t>
            </a:r>
            <a:endParaRPr lang="en-US" sz="1300" dirty="0"/>
          </a:p>
        </p:txBody>
      </p:sp>
      <p:sp>
        <p:nvSpPr>
          <p:cNvPr id="16" name="Text 13"/>
          <p:cNvSpPr/>
          <p:nvPr/>
        </p:nvSpPr>
        <p:spPr>
          <a:xfrm>
            <a:off x="2999232" y="3547872"/>
            <a:ext cx="1691640" cy="868680"/>
          </a:xfrm>
          <a:prstGeom prst="rect">
            <a:avLst/>
          </a:prstGeom>
          <a:noFill/>
          <a:ln/>
        </p:spPr>
        <p:txBody>
          <a:bodyPr wrap="square" rtlCol="0" anchor="t"/>
          <a:lstStyle/>
          <a:p>
            <a:pPr marL="0" indent="0" algn="ctr">
              <a:lnSpc>
                <a:spcPct val="110000"/>
              </a:lnSpc>
              <a:buNone/>
            </a:pPr>
            <a:r>
              <a:rPr lang="en-US" sz="1050" dirty="0">
                <a:solidFill>
                  <a:srgbClr val="5B6B76"/>
                </a:solidFill>
                <a:latin typeface="Calibri" pitchFamily="34" charset="0"/>
                <a:ea typeface="Calibri" pitchFamily="34" charset="-122"/>
                <a:cs typeface="Calibri" pitchFamily="34" charset="-120"/>
              </a:rPr>
              <a:t>Model users as nodes, interactions as edges</a:t>
            </a:r>
            <a:endParaRPr lang="en-US" sz="1050" dirty="0"/>
          </a:p>
        </p:txBody>
      </p:sp>
      <p:sp>
        <p:nvSpPr>
          <p:cNvPr id="17" name="Shape 14"/>
          <p:cNvSpPr/>
          <p:nvPr/>
        </p:nvSpPr>
        <p:spPr>
          <a:xfrm>
            <a:off x="4846320" y="3227832"/>
            <a:ext cx="219456" cy="219456"/>
          </a:xfrm>
          <a:prstGeom prst="rightArrow">
            <a:avLst/>
          </a:prstGeom>
          <a:solidFill>
            <a:srgbClr val="1C7293"/>
          </a:solidFill>
          <a:ln/>
        </p:spPr>
        <p:txBody>
          <a:bodyPr/>
          <a:lstStyle/>
          <a:p>
            <a:endParaRPr lang="en-IN"/>
          </a:p>
        </p:txBody>
      </p:sp>
      <p:sp>
        <p:nvSpPr>
          <p:cNvPr id="18" name="Shape 15"/>
          <p:cNvSpPr/>
          <p:nvPr/>
        </p:nvSpPr>
        <p:spPr>
          <a:xfrm>
            <a:off x="5084064" y="2194560"/>
            <a:ext cx="1965960" cy="2286000"/>
          </a:xfrm>
          <a:prstGeom prst="roundRect">
            <a:avLst>
              <a:gd name="adj" fmla="val 4651"/>
            </a:avLst>
          </a:prstGeom>
          <a:solidFill>
            <a:srgbClr val="FFFFFF"/>
          </a:solidFill>
          <a:ln w="12700">
            <a:solidFill>
              <a:srgbClr val="CFE8EF"/>
            </a:solidFill>
            <a:prstDash val="solid"/>
          </a:ln>
          <a:effectLst>
            <a:outerShdw blurRad="76200" dist="25400" dir="5400000" algn="bl" rotWithShape="0">
              <a:srgbClr val="8AA0AC">
                <a:alpha val="20000"/>
              </a:srgbClr>
            </a:outerShdw>
          </a:effectLst>
        </p:spPr>
        <p:txBody>
          <a:bodyPr/>
          <a:lstStyle/>
          <a:p>
            <a:endParaRPr lang="en-IN"/>
          </a:p>
        </p:txBody>
      </p:sp>
      <p:sp>
        <p:nvSpPr>
          <p:cNvPr id="19" name="Shape 16"/>
          <p:cNvSpPr/>
          <p:nvPr/>
        </p:nvSpPr>
        <p:spPr>
          <a:xfrm>
            <a:off x="5811012" y="2423160"/>
            <a:ext cx="512064" cy="512064"/>
          </a:xfrm>
          <a:prstGeom prst="ellipse">
            <a:avLst/>
          </a:prstGeom>
          <a:solidFill>
            <a:srgbClr val="1C7293"/>
          </a:solidFill>
          <a:ln/>
        </p:spPr>
        <p:txBody>
          <a:bodyPr/>
          <a:lstStyle/>
          <a:p>
            <a:endParaRPr lang="en-IN"/>
          </a:p>
        </p:txBody>
      </p:sp>
      <p:sp>
        <p:nvSpPr>
          <p:cNvPr id="20" name="Text 17"/>
          <p:cNvSpPr/>
          <p:nvPr/>
        </p:nvSpPr>
        <p:spPr>
          <a:xfrm>
            <a:off x="5811012" y="2423160"/>
            <a:ext cx="512064" cy="512064"/>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1" name="Text 18"/>
          <p:cNvSpPr/>
          <p:nvPr/>
        </p:nvSpPr>
        <p:spPr>
          <a:xfrm>
            <a:off x="5193792" y="3063240"/>
            <a:ext cx="1746504" cy="502920"/>
          </a:xfrm>
          <a:prstGeom prst="rect">
            <a:avLst/>
          </a:prstGeom>
          <a:noFill/>
          <a:ln/>
        </p:spPr>
        <p:txBody>
          <a:bodyPr wrap="square" rtlCol="0" anchor="t"/>
          <a:lstStyle/>
          <a:p>
            <a:pPr marL="0" indent="0" algn="ctr">
              <a:buNone/>
            </a:pPr>
            <a:r>
              <a:rPr lang="en-US" sz="1300" b="1" dirty="0">
                <a:solidFill>
                  <a:srgbClr val="21295C"/>
                </a:solidFill>
                <a:latin typeface="Calibri" pitchFamily="34" charset="0"/>
                <a:ea typeface="Calibri" pitchFamily="34" charset="-122"/>
                <a:cs typeface="Calibri" pitchFamily="34" charset="-120"/>
              </a:rPr>
              <a:t>Edge Weighting</a:t>
            </a:r>
            <a:endParaRPr lang="en-US" sz="1300" dirty="0"/>
          </a:p>
        </p:txBody>
      </p:sp>
      <p:sp>
        <p:nvSpPr>
          <p:cNvPr id="22" name="Text 19"/>
          <p:cNvSpPr/>
          <p:nvPr/>
        </p:nvSpPr>
        <p:spPr>
          <a:xfrm>
            <a:off x="5221224" y="3547872"/>
            <a:ext cx="1691640" cy="868680"/>
          </a:xfrm>
          <a:prstGeom prst="rect">
            <a:avLst/>
          </a:prstGeom>
          <a:noFill/>
          <a:ln/>
        </p:spPr>
        <p:txBody>
          <a:bodyPr wrap="square" rtlCol="0" anchor="t"/>
          <a:lstStyle/>
          <a:p>
            <a:pPr marL="0" indent="0" algn="ctr">
              <a:lnSpc>
                <a:spcPct val="110000"/>
              </a:lnSpc>
              <a:buNone/>
            </a:pPr>
            <a:r>
              <a:rPr lang="en-US" sz="1050" dirty="0">
                <a:solidFill>
                  <a:srgbClr val="5B6B76"/>
                </a:solidFill>
                <a:latin typeface="Calibri" pitchFamily="34" charset="0"/>
                <a:ea typeface="Calibri" pitchFamily="34" charset="-122"/>
                <a:cs typeface="Calibri" pitchFamily="34" charset="-120"/>
              </a:rPr>
              <a:t>Assign weights based on interaction strength</a:t>
            </a:r>
            <a:endParaRPr lang="en-US" sz="1050" dirty="0"/>
          </a:p>
        </p:txBody>
      </p:sp>
      <p:sp>
        <p:nvSpPr>
          <p:cNvPr id="23" name="Shape 20"/>
          <p:cNvSpPr/>
          <p:nvPr/>
        </p:nvSpPr>
        <p:spPr>
          <a:xfrm>
            <a:off x="7068312" y="3227832"/>
            <a:ext cx="219456" cy="219456"/>
          </a:xfrm>
          <a:prstGeom prst="rightArrow">
            <a:avLst/>
          </a:prstGeom>
          <a:solidFill>
            <a:srgbClr val="1C7293"/>
          </a:solidFill>
          <a:ln/>
        </p:spPr>
        <p:txBody>
          <a:bodyPr/>
          <a:lstStyle/>
          <a:p>
            <a:endParaRPr lang="en-IN"/>
          </a:p>
        </p:txBody>
      </p:sp>
      <p:sp>
        <p:nvSpPr>
          <p:cNvPr id="24" name="Shape 21"/>
          <p:cNvSpPr/>
          <p:nvPr/>
        </p:nvSpPr>
        <p:spPr>
          <a:xfrm>
            <a:off x="7306056" y="2194560"/>
            <a:ext cx="1965960" cy="2286000"/>
          </a:xfrm>
          <a:prstGeom prst="roundRect">
            <a:avLst>
              <a:gd name="adj" fmla="val 4651"/>
            </a:avLst>
          </a:prstGeom>
          <a:solidFill>
            <a:srgbClr val="FFFFFF"/>
          </a:solidFill>
          <a:ln w="12700">
            <a:solidFill>
              <a:srgbClr val="CFE8EF"/>
            </a:solidFill>
            <a:prstDash val="solid"/>
          </a:ln>
          <a:effectLst>
            <a:outerShdw blurRad="76200" dist="25400" dir="5400000" algn="bl" rotWithShape="0">
              <a:srgbClr val="8AA0AC">
                <a:alpha val="20000"/>
              </a:srgbClr>
            </a:outerShdw>
          </a:effectLst>
        </p:spPr>
        <p:txBody>
          <a:bodyPr/>
          <a:lstStyle/>
          <a:p>
            <a:endParaRPr lang="en-IN"/>
          </a:p>
        </p:txBody>
      </p:sp>
      <p:sp>
        <p:nvSpPr>
          <p:cNvPr id="25" name="Shape 22"/>
          <p:cNvSpPr/>
          <p:nvPr/>
        </p:nvSpPr>
        <p:spPr>
          <a:xfrm>
            <a:off x="8033004" y="2423160"/>
            <a:ext cx="512064" cy="512064"/>
          </a:xfrm>
          <a:prstGeom prst="ellipse">
            <a:avLst/>
          </a:prstGeom>
          <a:solidFill>
            <a:srgbClr val="1C7293"/>
          </a:solidFill>
          <a:ln/>
        </p:spPr>
        <p:txBody>
          <a:bodyPr/>
          <a:lstStyle/>
          <a:p>
            <a:endParaRPr lang="en-IN"/>
          </a:p>
        </p:txBody>
      </p:sp>
      <p:sp>
        <p:nvSpPr>
          <p:cNvPr id="26" name="Text 23"/>
          <p:cNvSpPr/>
          <p:nvPr/>
        </p:nvSpPr>
        <p:spPr>
          <a:xfrm>
            <a:off x="8033004" y="2423160"/>
            <a:ext cx="512064" cy="512064"/>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7" name="Text 24"/>
          <p:cNvSpPr/>
          <p:nvPr/>
        </p:nvSpPr>
        <p:spPr>
          <a:xfrm>
            <a:off x="7415784" y="3063240"/>
            <a:ext cx="1746504" cy="502920"/>
          </a:xfrm>
          <a:prstGeom prst="rect">
            <a:avLst/>
          </a:prstGeom>
          <a:noFill/>
          <a:ln/>
        </p:spPr>
        <p:txBody>
          <a:bodyPr wrap="square" rtlCol="0" anchor="t"/>
          <a:lstStyle/>
          <a:p>
            <a:pPr marL="0" indent="0" algn="ctr">
              <a:buNone/>
            </a:pPr>
            <a:r>
              <a:rPr lang="en-US" sz="1300" b="1" dirty="0">
                <a:solidFill>
                  <a:srgbClr val="21295C"/>
                </a:solidFill>
                <a:latin typeface="Calibri" pitchFamily="34" charset="0"/>
                <a:ea typeface="Calibri" pitchFamily="34" charset="-122"/>
                <a:cs typeface="Calibri" pitchFamily="34" charset="-120"/>
              </a:rPr>
              <a:t>Community Detection</a:t>
            </a:r>
            <a:endParaRPr lang="en-US" sz="1300" dirty="0"/>
          </a:p>
        </p:txBody>
      </p:sp>
      <p:sp>
        <p:nvSpPr>
          <p:cNvPr id="28" name="Text 25"/>
          <p:cNvSpPr/>
          <p:nvPr/>
        </p:nvSpPr>
        <p:spPr>
          <a:xfrm>
            <a:off x="7443216" y="3547872"/>
            <a:ext cx="1691640" cy="868680"/>
          </a:xfrm>
          <a:prstGeom prst="rect">
            <a:avLst/>
          </a:prstGeom>
          <a:noFill/>
          <a:ln/>
        </p:spPr>
        <p:txBody>
          <a:bodyPr wrap="square" rtlCol="0" anchor="t"/>
          <a:lstStyle/>
          <a:p>
            <a:pPr marL="0" indent="0" algn="ctr">
              <a:lnSpc>
                <a:spcPct val="110000"/>
              </a:lnSpc>
              <a:buNone/>
            </a:pPr>
            <a:r>
              <a:rPr lang="en-US" sz="1050" dirty="0">
                <a:solidFill>
                  <a:srgbClr val="5B6B76"/>
                </a:solidFill>
                <a:latin typeface="Calibri" pitchFamily="34" charset="0"/>
                <a:ea typeface="Calibri" pitchFamily="34" charset="-122"/>
                <a:cs typeface="Calibri" pitchFamily="34" charset="-120"/>
              </a:rPr>
              <a:t>Apply graph algorithms to cluster the network</a:t>
            </a:r>
            <a:endParaRPr lang="en-US" sz="1050" dirty="0"/>
          </a:p>
        </p:txBody>
      </p:sp>
      <p:sp>
        <p:nvSpPr>
          <p:cNvPr id="29" name="Shape 26"/>
          <p:cNvSpPr/>
          <p:nvPr/>
        </p:nvSpPr>
        <p:spPr>
          <a:xfrm>
            <a:off x="9290304" y="3227832"/>
            <a:ext cx="219456" cy="219456"/>
          </a:xfrm>
          <a:prstGeom prst="rightArrow">
            <a:avLst/>
          </a:prstGeom>
          <a:solidFill>
            <a:srgbClr val="1C7293"/>
          </a:solidFill>
          <a:ln/>
        </p:spPr>
        <p:txBody>
          <a:bodyPr/>
          <a:lstStyle/>
          <a:p>
            <a:endParaRPr lang="en-IN"/>
          </a:p>
        </p:txBody>
      </p:sp>
      <p:sp>
        <p:nvSpPr>
          <p:cNvPr id="30" name="Shape 27"/>
          <p:cNvSpPr/>
          <p:nvPr/>
        </p:nvSpPr>
        <p:spPr>
          <a:xfrm>
            <a:off x="9528048" y="2194560"/>
            <a:ext cx="1965960" cy="2286000"/>
          </a:xfrm>
          <a:prstGeom prst="roundRect">
            <a:avLst>
              <a:gd name="adj" fmla="val 4651"/>
            </a:avLst>
          </a:prstGeom>
          <a:solidFill>
            <a:srgbClr val="065A82"/>
          </a:solidFill>
          <a:ln w="12700">
            <a:solidFill>
              <a:srgbClr val="CFE8EF"/>
            </a:solidFill>
            <a:prstDash val="solid"/>
          </a:ln>
          <a:effectLst>
            <a:outerShdw blurRad="76200" dist="25400" dir="5400000" algn="bl" rotWithShape="0">
              <a:srgbClr val="8AA0AC">
                <a:alpha val="20000"/>
              </a:srgbClr>
            </a:outerShdw>
          </a:effectLst>
        </p:spPr>
        <p:txBody>
          <a:bodyPr/>
          <a:lstStyle/>
          <a:p>
            <a:endParaRPr lang="en-IN"/>
          </a:p>
        </p:txBody>
      </p:sp>
      <p:sp>
        <p:nvSpPr>
          <p:cNvPr id="31" name="Shape 28"/>
          <p:cNvSpPr/>
          <p:nvPr/>
        </p:nvSpPr>
        <p:spPr>
          <a:xfrm>
            <a:off x="10254996" y="2423160"/>
            <a:ext cx="512064" cy="512064"/>
          </a:xfrm>
          <a:prstGeom prst="ellipse">
            <a:avLst/>
          </a:prstGeom>
          <a:solidFill>
            <a:srgbClr val="FFFFFF"/>
          </a:solidFill>
          <a:ln/>
        </p:spPr>
        <p:txBody>
          <a:bodyPr/>
          <a:lstStyle/>
          <a:p>
            <a:endParaRPr lang="en-IN"/>
          </a:p>
        </p:txBody>
      </p:sp>
      <p:sp>
        <p:nvSpPr>
          <p:cNvPr id="32" name="Text 29"/>
          <p:cNvSpPr/>
          <p:nvPr/>
        </p:nvSpPr>
        <p:spPr>
          <a:xfrm>
            <a:off x="10254996" y="2423160"/>
            <a:ext cx="512064" cy="512064"/>
          </a:xfrm>
          <a:prstGeom prst="rect">
            <a:avLst/>
          </a:prstGeom>
          <a:noFill/>
          <a:ln/>
        </p:spPr>
        <p:txBody>
          <a:bodyPr wrap="square" rtlCol="0" anchor="ctr"/>
          <a:lstStyle/>
          <a:p>
            <a:pPr marL="0" indent="0" algn="ctr">
              <a:buNone/>
            </a:pPr>
            <a:r>
              <a:rPr lang="en-US" sz="1800" b="1" dirty="0">
                <a:solidFill>
                  <a:srgbClr val="065A82"/>
                </a:solidFill>
                <a:latin typeface="Calibri" pitchFamily="34" charset="0"/>
                <a:ea typeface="Calibri" pitchFamily="34" charset="-122"/>
                <a:cs typeface="Calibri" pitchFamily="34" charset="-120"/>
              </a:rPr>
              <a:t>5</a:t>
            </a:r>
            <a:endParaRPr lang="en-US" sz="1800" dirty="0"/>
          </a:p>
        </p:txBody>
      </p:sp>
      <p:sp>
        <p:nvSpPr>
          <p:cNvPr id="33" name="Text 30"/>
          <p:cNvSpPr/>
          <p:nvPr/>
        </p:nvSpPr>
        <p:spPr>
          <a:xfrm>
            <a:off x="9637776" y="3063240"/>
            <a:ext cx="1746504" cy="502920"/>
          </a:xfrm>
          <a:prstGeom prst="rect">
            <a:avLst/>
          </a:prstGeom>
          <a:noFill/>
          <a:ln/>
        </p:spPr>
        <p:txBody>
          <a:bodyPr wrap="square"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Visualization &amp; Metrics</a:t>
            </a:r>
            <a:endParaRPr lang="en-US" sz="1300" dirty="0"/>
          </a:p>
        </p:txBody>
      </p:sp>
      <p:sp>
        <p:nvSpPr>
          <p:cNvPr id="34" name="Text 31"/>
          <p:cNvSpPr/>
          <p:nvPr/>
        </p:nvSpPr>
        <p:spPr>
          <a:xfrm>
            <a:off x="9665208" y="3547872"/>
            <a:ext cx="1691640" cy="868680"/>
          </a:xfrm>
          <a:prstGeom prst="rect">
            <a:avLst/>
          </a:prstGeom>
          <a:noFill/>
          <a:ln/>
        </p:spPr>
        <p:txBody>
          <a:bodyPr wrap="square" rtlCol="0" anchor="t"/>
          <a:lstStyle/>
          <a:p>
            <a:pPr marL="0" indent="0" algn="ctr">
              <a:lnSpc>
                <a:spcPct val="110000"/>
              </a:lnSpc>
              <a:buNone/>
            </a:pPr>
            <a:r>
              <a:rPr lang="en-US" sz="1050" dirty="0">
                <a:solidFill>
                  <a:srgbClr val="CFE8EF"/>
                </a:solidFill>
                <a:latin typeface="Calibri" pitchFamily="34" charset="0"/>
                <a:ea typeface="Calibri" pitchFamily="34" charset="-122"/>
                <a:cs typeface="Calibri" pitchFamily="34" charset="-120"/>
              </a:rPr>
              <a:t>Display communities with size &amp; strength stats</a:t>
            </a:r>
            <a:endParaRPr lang="en-US" sz="1050" dirty="0"/>
          </a:p>
        </p:txBody>
      </p:sp>
      <p:sp>
        <p:nvSpPr>
          <p:cNvPr id="35" name="Text 32"/>
          <p:cNvSpPr/>
          <p:nvPr/>
        </p:nvSpPr>
        <p:spPr>
          <a:xfrm>
            <a:off x="640080" y="4892040"/>
            <a:ext cx="10881360" cy="457200"/>
          </a:xfrm>
          <a:prstGeom prst="rect">
            <a:avLst/>
          </a:prstGeom>
          <a:noFill/>
          <a:ln/>
        </p:spPr>
        <p:txBody>
          <a:bodyPr wrap="square" rtlCol="0" anchor="ctr"/>
          <a:lstStyle/>
          <a:p>
            <a:pPr marL="0" indent="0" algn="ctr">
              <a:buNone/>
            </a:pPr>
            <a:r>
              <a:rPr lang="en-US" sz="1250" i="1" dirty="0">
                <a:solidFill>
                  <a:srgbClr val="5B6B76"/>
                </a:solidFill>
                <a:latin typeface="Calibri" pitchFamily="34" charset="0"/>
                <a:ea typeface="Calibri" pitchFamily="34" charset="-122"/>
                <a:cs typeface="Calibri" pitchFamily="34" charset="-120"/>
              </a:rPr>
              <a:t>Each step builds on the last: raw interaction logs become an actionable, visualized community map.</a:t>
            </a:r>
            <a:endParaRPr lang="en-US" sz="1250" dirty="0"/>
          </a:p>
        </p:txBody>
      </p:sp>
      <p:sp>
        <p:nvSpPr>
          <p:cNvPr id="36" name="Shape 33"/>
          <p:cNvSpPr/>
          <p:nvPr/>
        </p:nvSpPr>
        <p:spPr>
          <a:xfrm>
            <a:off x="1417320" y="5532120"/>
            <a:ext cx="2331720" cy="457200"/>
          </a:xfrm>
          <a:prstGeom prst="roundRect">
            <a:avLst>
              <a:gd name="adj" fmla="val 50000"/>
            </a:avLst>
          </a:prstGeom>
          <a:solidFill>
            <a:srgbClr val="21295C"/>
          </a:solidFill>
          <a:ln/>
        </p:spPr>
        <p:txBody>
          <a:bodyPr/>
          <a:lstStyle/>
          <a:p>
            <a:endParaRPr lang="en-IN"/>
          </a:p>
        </p:txBody>
      </p:sp>
      <p:sp>
        <p:nvSpPr>
          <p:cNvPr id="37" name="Text 34"/>
          <p:cNvSpPr/>
          <p:nvPr/>
        </p:nvSpPr>
        <p:spPr>
          <a:xfrm>
            <a:off x="1417320" y="5532120"/>
            <a:ext cx="233172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BFS / DFS Traversal</a:t>
            </a:r>
            <a:endParaRPr lang="en-US" sz="1100" dirty="0"/>
          </a:p>
        </p:txBody>
      </p:sp>
      <p:sp>
        <p:nvSpPr>
          <p:cNvPr id="38" name="Shape 35"/>
          <p:cNvSpPr/>
          <p:nvPr/>
        </p:nvSpPr>
        <p:spPr>
          <a:xfrm>
            <a:off x="3886200" y="5532120"/>
            <a:ext cx="2331720" cy="457200"/>
          </a:xfrm>
          <a:prstGeom prst="roundRect">
            <a:avLst>
              <a:gd name="adj" fmla="val 50000"/>
            </a:avLst>
          </a:prstGeom>
          <a:solidFill>
            <a:srgbClr val="21295C"/>
          </a:solidFill>
          <a:ln/>
        </p:spPr>
        <p:txBody>
          <a:bodyPr/>
          <a:lstStyle/>
          <a:p>
            <a:endParaRPr lang="en-IN"/>
          </a:p>
        </p:txBody>
      </p:sp>
      <p:sp>
        <p:nvSpPr>
          <p:cNvPr id="39" name="Text 36"/>
          <p:cNvSpPr/>
          <p:nvPr/>
        </p:nvSpPr>
        <p:spPr>
          <a:xfrm>
            <a:off x="3886200" y="5532120"/>
            <a:ext cx="233172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Modularity Optimization</a:t>
            </a:r>
            <a:endParaRPr lang="en-US" sz="1100" dirty="0"/>
          </a:p>
        </p:txBody>
      </p:sp>
      <p:sp>
        <p:nvSpPr>
          <p:cNvPr id="40" name="Shape 37"/>
          <p:cNvSpPr/>
          <p:nvPr/>
        </p:nvSpPr>
        <p:spPr>
          <a:xfrm>
            <a:off x="6355080" y="5532120"/>
            <a:ext cx="2331720" cy="457200"/>
          </a:xfrm>
          <a:prstGeom prst="roundRect">
            <a:avLst>
              <a:gd name="adj" fmla="val 50000"/>
            </a:avLst>
          </a:prstGeom>
          <a:solidFill>
            <a:srgbClr val="21295C"/>
          </a:solidFill>
          <a:ln/>
        </p:spPr>
        <p:txBody>
          <a:bodyPr/>
          <a:lstStyle/>
          <a:p>
            <a:endParaRPr lang="en-IN"/>
          </a:p>
        </p:txBody>
      </p:sp>
      <p:sp>
        <p:nvSpPr>
          <p:cNvPr id="41" name="Text 38"/>
          <p:cNvSpPr/>
          <p:nvPr/>
        </p:nvSpPr>
        <p:spPr>
          <a:xfrm>
            <a:off x="6355080" y="5532120"/>
            <a:ext cx="233172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Louvain Clustering</a:t>
            </a:r>
            <a:endParaRPr lang="en-US" sz="1100" dirty="0"/>
          </a:p>
        </p:txBody>
      </p:sp>
      <p:sp>
        <p:nvSpPr>
          <p:cNvPr id="42" name="Shape 39"/>
          <p:cNvSpPr/>
          <p:nvPr/>
        </p:nvSpPr>
        <p:spPr>
          <a:xfrm>
            <a:off x="8823960" y="5532120"/>
            <a:ext cx="2331720" cy="457200"/>
          </a:xfrm>
          <a:prstGeom prst="roundRect">
            <a:avLst>
              <a:gd name="adj" fmla="val 50000"/>
            </a:avLst>
          </a:prstGeom>
          <a:solidFill>
            <a:srgbClr val="21295C"/>
          </a:solidFill>
          <a:ln/>
        </p:spPr>
        <p:txBody>
          <a:bodyPr/>
          <a:lstStyle/>
          <a:p>
            <a:endParaRPr lang="en-IN"/>
          </a:p>
        </p:txBody>
      </p:sp>
      <p:sp>
        <p:nvSpPr>
          <p:cNvPr id="43" name="Text 40"/>
          <p:cNvSpPr/>
          <p:nvPr/>
        </p:nvSpPr>
        <p:spPr>
          <a:xfrm>
            <a:off x="8823960" y="5532120"/>
            <a:ext cx="233172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Quality Metrics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640080"/>
          </a:xfrm>
          <a:prstGeom prst="rect">
            <a:avLst/>
          </a:prstGeom>
          <a:noFill/>
          <a:ln/>
        </p:spPr>
        <p:txBody>
          <a:bodyPr wrap="square"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Scope &amp; Unique Solution</a:t>
            </a:r>
            <a:endParaRPr lang="en-US" sz="3200" dirty="0"/>
          </a:p>
        </p:txBody>
      </p:sp>
      <p:sp>
        <p:nvSpPr>
          <p:cNvPr id="3" name="Shape 1"/>
          <p:cNvSpPr/>
          <p:nvPr/>
        </p:nvSpPr>
        <p:spPr>
          <a:xfrm>
            <a:off x="658368" y="1097280"/>
            <a:ext cx="822960" cy="64008"/>
          </a:xfrm>
          <a:prstGeom prst="rect">
            <a:avLst/>
          </a:prstGeom>
          <a:solidFill>
            <a:srgbClr val="1C7293"/>
          </a:solidFill>
          <a:ln/>
        </p:spPr>
        <p:txBody>
          <a:bodyPr/>
          <a:lstStyle/>
          <a:p>
            <a:endParaRPr lang="en-IN"/>
          </a:p>
        </p:txBody>
      </p:sp>
      <p:sp>
        <p:nvSpPr>
          <p:cNvPr id="4" name="Text 2"/>
          <p:cNvSpPr/>
          <p:nvPr/>
        </p:nvSpPr>
        <p:spPr>
          <a:xfrm>
            <a:off x="640080" y="1417320"/>
            <a:ext cx="5486400" cy="365760"/>
          </a:xfrm>
          <a:prstGeom prst="rect">
            <a:avLst/>
          </a:prstGeom>
          <a:noFill/>
          <a:ln/>
        </p:spPr>
        <p:txBody>
          <a:bodyPr wrap="square" rtlCol="0" anchor="ctr"/>
          <a:lstStyle/>
          <a:p>
            <a:pPr marL="0" indent="0">
              <a:buNone/>
            </a:pPr>
            <a:r>
              <a:rPr lang="en-US" sz="1600" b="1" dirty="0">
                <a:solidFill>
                  <a:srgbClr val="065A82"/>
                </a:solidFill>
                <a:latin typeface="Calibri" pitchFamily="34" charset="0"/>
                <a:ea typeface="Calibri" pitchFamily="34" charset="-122"/>
                <a:cs typeface="Calibri" pitchFamily="34" charset="-120"/>
              </a:rPr>
              <a:t>Project Scope</a:t>
            </a:r>
            <a:endParaRPr lang="en-US" sz="1600" dirty="0"/>
          </a:p>
        </p:txBody>
      </p:sp>
      <p:sp>
        <p:nvSpPr>
          <p:cNvPr id="5" name="Shape 3"/>
          <p:cNvSpPr/>
          <p:nvPr/>
        </p:nvSpPr>
        <p:spPr>
          <a:xfrm>
            <a:off x="667512" y="1920240"/>
            <a:ext cx="402336" cy="402336"/>
          </a:xfrm>
          <a:prstGeom prst="ellipse">
            <a:avLst/>
          </a:prstGeom>
          <a:solidFill>
            <a:srgbClr val="1C7293"/>
          </a:solidFill>
          <a:ln/>
        </p:spPr>
        <p:txBody>
          <a:bodyPr/>
          <a:lstStyle/>
          <a:p>
            <a:endParaRPr lang="en-IN"/>
          </a:p>
        </p:txBody>
      </p:sp>
      <p:pic>
        <p:nvPicPr>
          <p:cNvPr id="6" name="Image 0" descr="icons/check.png"/>
          <p:cNvPicPr>
            <a:picLocks noChangeAspect="1"/>
          </p:cNvPicPr>
          <p:nvPr/>
        </p:nvPicPr>
        <p:blipFill>
          <a:blip r:embed="rId3"/>
          <a:stretch>
            <a:fillRect/>
          </a:stretch>
        </p:blipFill>
        <p:spPr>
          <a:xfrm>
            <a:off x="758038" y="2010766"/>
            <a:ext cx="221285" cy="221285"/>
          </a:xfrm>
          <a:prstGeom prst="rect">
            <a:avLst/>
          </a:prstGeom>
        </p:spPr>
      </p:pic>
      <p:sp>
        <p:nvSpPr>
          <p:cNvPr id="7" name="Text 4"/>
          <p:cNvSpPr/>
          <p:nvPr/>
        </p:nvSpPr>
        <p:spPr>
          <a:xfrm>
            <a:off x="1234440" y="1920240"/>
            <a:ext cx="4937760" cy="548640"/>
          </a:xfrm>
          <a:prstGeom prst="rect">
            <a:avLst/>
          </a:prstGeom>
          <a:noFill/>
          <a:ln/>
        </p:spPr>
        <p:txBody>
          <a:bodyPr wrap="square" rtlCol="0" anchor="ctr"/>
          <a:lstStyle/>
          <a:p>
            <a:pPr marL="0" indent="0">
              <a:lnSpc>
                <a:spcPct val="115000"/>
              </a:lnSpc>
              <a:buNone/>
            </a:pPr>
            <a:r>
              <a:rPr lang="en-US" sz="1250" dirty="0">
                <a:solidFill>
                  <a:srgbClr val="1E2430"/>
                </a:solidFill>
                <a:latin typeface="Calibri" pitchFamily="34" charset="0"/>
                <a:ea typeface="Calibri" pitchFamily="34" charset="-122"/>
                <a:cs typeface="Calibri" pitchFamily="34" charset="-120"/>
              </a:rPr>
              <a:t>Analyze social &amp; communication network data for hidden group structures</a:t>
            </a:r>
            <a:endParaRPr lang="en-US" sz="1250" dirty="0"/>
          </a:p>
        </p:txBody>
      </p:sp>
      <p:sp>
        <p:nvSpPr>
          <p:cNvPr id="8" name="Shape 5"/>
          <p:cNvSpPr/>
          <p:nvPr/>
        </p:nvSpPr>
        <p:spPr>
          <a:xfrm>
            <a:off x="667512" y="2697480"/>
            <a:ext cx="402336" cy="402336"/>
          </a:xfrm>
          <a:prstGeom prst="ellipse">
            <a:avLst/>
          </a:prstGeom>
          <a:solidFill>
            <a:srgbClr val="1C7293"/>
          </a:solidFill>
          <a:ln/>
        </p:spPr>
        <p:txBody>
          <a:bodyPr/>
          <a:lstStyle/>
          <a:p>
            <a:endParaRPr lang="en-IN"/>
          </a:p>
        </p:txBody>
      </p:sp>
      <p:pic>
        <p:nvPicPr>
          <p:cNvPr id="9" name="Image 1" descr="icons/check.png"/>
          <p:cNvPicPr>
            <a:picLocks noChangeAspect="1"/>
          </p:cNvPicPr>
          <p:nvPr/>
        </p:nvPicPr>
        <p:blipFill>
          <a:blip r:embed="rId3"/>
          <a:stretch>
            <a:fillRect/>
          </a:stretch>
        </p:blipFill>
        <p:spPr>
          <a:xfrm>
            <a:off x="758038" y="2788006"/>
            <a:ext cx="221285" cy="221285"/>
          </a:xfrm>
          <a:prstGeom prst="rect">
            <a:avLst/>
          </a:prstGeom>
        </p:spPr>
      </p:pic>
      <p:sp>
        <p:nvSpPr>
          <p:cNvPr id="10" name="Text 6"/>
          <p:cNvSpPr/>
          <p:nvPr/>
        </p:nvSpPr>
        <p:spPr>
          <a:xfrm>
            <a:off x="1234440" y="2697480"/>
            <a:ext cx="4937760" cy="548640"/>
          </a:xfrm>
          <a:prstGeom prst="rect">
            <a:avLst/>
          </a:prstGeom>
          <a:noFill/>
          <a:ln/>
        </p:spPr>
        <p:txBody>
          <a:bodyPr wrap="square" rtlCol="0" anchor="ctr"/>
          <a:lstStyle/>
          <a:p>
            <a:pPr marL="0" indent="0">
              <a:lnSpc>
                <a:spcPct val="115000"/>
              </a:lnSpc>
              <a:buNone/>
            </a:pPr>
            <a:r>
              <a:rPr lang="en-US" sz="1250" dirty="0">
                <a:solidFill>
                  <a:srgbClr val="1E2430"/>
                </a:solidFill>
                <a:latin typeface="Calibri" pitchFamily="34" charset="0"/>
                <a:ea typeface="Calibri" pitchFamily="34" charset="-122"/>
                <a:cs typeface="Calibri" pitchFamily="34" charset="-120"/>
              </a:rPr>
              <a:t>Support recommendation systems by revealing user affinity clusters</a:t>
            </a:r>
            <a:endParaRPr lang="en-US" sz="1250" dirty="0"/>
          </a:p>
        </p:txBody>
      </p:sp>
      <p:sp>
        <p:nvSpPr>
          <p:cNvPr id="11" name="Shape 7"/>
          <p:cNvSpPr/>
          <p:nvPr/>
        </p:nvSpPr>
        <p:spPr>
          <a:xfrm>
            <a:off x="667512" y="3474720"/>
            <a:ext cx="402336" cy="402336"/>
          </a:xfrm>
          <a:prstGeom prst="ellipse">
            <a:avLst/>
          </a:prstGeom>
          <a:solidFill>
            <a:srgbClr val="1C7293"/>
          </a:solidFill>
          <a:ln/>
        </p:spPr>
        <p:txBody>
          <a:bodyPr/>
          <a:lstStyle/>
          <a:p>
            <a:endParaRPr lang="en-IN"/>
          </a:p>
        </p:txBody>
      </p:sp>
      <p:pic>
        <p:nvPicPr>
          <p:cNvPr id="12" name="Image 2" descr="icons/check.png"/>
          <p:cNvPicPr>
            <a:picLocks noChangeAspect="1"/>
          </p:cNvPicPr>
          <p:nvPr/>
        </p:nvPicPr>
        <p:blipFill>
          <a:blip r:embed="rId3"/>
          <a:stretch>
            <a:fillRect/>
          </a:stretch>
        </p:blipFill>
        <p:spPr>
          <a:xfrm>
            <a:off x="758038" y="3565246"/>
            <a:ext cx="221285" cy="221285"/>
          </a:xfrm>
          <a:prstGeom prst="rect">
            <a:avLst/>
          </a:prstGeom>
        </p:spPr>
      </p:pic>
      <p:sp>
        <p:nvSpPr>
          <p:cNvPr id="13" name="Text 8"/>
          <p:cNvSpPr/>
          <p:nvPr/>
        </p:nvSpPr>
        <p:spPr>
          <a:xfrm>
            <a:off x="1234440" y="3474720"/>
            <a:ext cx="4937760" cy="548640"/>
          </a:xfrm>
          <a:prstGeom prst="rect">
            <a:avLst/>
          </a:prstGeom>
          <a:noFill/>
          <a:ln/>
        </p:spPr>
        <p:txBody>
          <a:bodyPr wrap="square" rtlCol="0" anchor="ctr"/>
          <a:lstStyle/>
          <a:p>
            <a:pPr marL="0" indent="0">
              <a:lnSpc>
                <a:spcPct val="115000"/>
              </a:lnSpc>
              <a:buNone/>
            </a:pPr>
            <a:r>
              <a:rPr lang="en-US" sz="1250" dirty="0">
                <a:solidFill>
                  <a:srgbClr val="1E2430"/>
                </a:solidFill>
                <a:latin typeface="Calibri" pitchFamily="34" charset="0"/>
                <a:ea typeface="Calibri" pitchFamily="34" charset="-122"/>
                <a:cs typeface="Calibri" pitchFamily="34" charset="-120"/>
              </a:rPr>
              <a:t>Aid targeted marketing by identifying influential sub-groups</a:t>
            </a:r>
            <a:endParaRPr lang="en-US" sz="1250" dirty="0"/>
          </a:p>
        </p:txBody>
      </p:sp>
      <p:sp>
        <p:nvSpPr>
          <p:cNvPr id="14" name="Shape 9"/>
          <p:cNvSpPr/>
          <p:nvPr/>
        </p:nvSpPr>
        <p:spPr>
          <a:xfrm>
            <a:off x="667512" y="4251960"/>
            <a:ext cx="402336" cy="402336"/>
          </a:xfrm>
          <a:prstGeom prst="ellipse">
            <a:avLst/>
          </a:prstGeom>
          <a:solidFill>
            <a:srgbClr val="1C7293"/>
          </a:solidFill>
          <a:ln/>
        </p:spPr>
        <p:txBody>
          <a:bodyPr/>
          <a:lstStyle/>
          <a:p>
            <a:endParaRPr lang="en-IN"/>
          </a:p>
        </p:txBody>
      </p:sp>
      <p:pic>
        <p:nvPicPr>
          <p:cNvPr id="15" name="Image 3" descr="icons/check.png"/>
          <p:cNvPicPr>
            <a:picLocks noChangeAspect="1"/>
          </p:cNvPicPr>
          <p:nvPr/>
        </p:nvPicPr>
        <p:blipFill>
          <a:blip r:embed="rId3"/>
          <a:stretch>
            <a:fillRect/>
          </a:stretch>
        </p:blipFill>
        <p:spPr>
          <a:xfrm>
            <a:off x="758038" y="4342486"/>
            <a:ext cx="221285" cy="221285"/>
          </a:xfrm>
          <a:prstGeom prst="rect">
            <a:avLst/>
          </a:prstGeom>
        </p:spPr>
      </p:pic>
      <p:sp>
        <p:nvSpPr>
          <p:cNvPr id="16" name="Text 10"/>
          <p:cNvSpPr/>
          <p:nvPr/>
        </p:nvSpPr>
        <p:spPr>
          <a:xfrm>
            <a:off x="1234440" y="4251960"/>
            <a:ext cx="4937760" cy="548640"/>
          </a:xfrm>
          <a:prstGeom prst="rect">
            <a:avLst/>
          </a:prstGeom>
          <a:noFill/>
          <a:ln/>
        </p:spPr>
        <p:txBody>
          <a:bodyPr wrap="square" rtlCol="0" anchor="ctr"/>
          <a:lstStyle/>
          <a:p>
            <a:pPr marL="0" indent="0">
              <a:lnSpc>
                <a:spcPct val="115000"/>
              </a:lnSpc>
              <a:buNone/>
            </a:pPr>
            <a:r>
              <a:rPr lang="en-US" sz="1250" dirty="0">
                <a:solidFill>
                  <a:srgbClr val="1E2430"/>
                </a:solidFill>
                <a:latin typeface="Calibri" pitchFamily="34" charset="0"/>
                <a:ea typeface="Calibri" pitchFamily="34" charset="-122"/>
                <a:cs typeface="Calibri" pitchFamily="34" charset="-120"/>
              </a:rPr>
              <a:t>Provide a foundation extendable to larger, real-time datasets</a:t>
            </a:r>
            <a:endParaRPr lang="en-US" sz="1250" dirty="0"/>
          </a:p>
        </p:txBody>
      </p:sp>
      <p:sp>
        <p:nvSpPr>
          <p:cNvPr id="17" name="Shape 11"/>
          <p:cNvSpPr/>
          <p:nvPr/>
        </p:nvSpPr>
        <p:spPr>
          <a:xfrm>
            <a:off x="6263640" y="1417320"/>
            <a:ext cx="5303520" cy="4846320"/>
          </a:xfrm>
          <a:prstGeom prst="roundRect">
            <a:avLst>
              <a:gd name="adj" fmla="val 2642"/>
            </a:avLst>
          </a:prstGeom>
          <a:solidFill>
            <a:srgbClr val="21295C"/>
          </a:solidFill>
          <a:ln/>
        </p:spPr>
        <p:txBody>
          <a:bodyPr/>
          <a:lstStyle/>
          <a:p>
            <a:endParaRPr lang="en-IN"/>
          </a:p>
        </p:txBody>
      </p:sp>
      <p:sp>
        <p:nvSpPr>
          <p:cNvPr id="18" name="Shape 12"/>
          <p:cNvSpPr/>
          <p:nvPr/>
        </p:nvSpPr>
        <p:spPr>
          <a:xfrm flipV="1">
            <a:off x="7251192" y="4169664"/>
            <a:ext cx="1901952" cy="301752"/>
          </a:xfrm>
          <a:prstGeom prst="line">
            <a:avLst/>
          </a:prstGeom>
          <a:noFill/>
          <a:ln w="15875">
            <a:solidFill>
              <a:srgbClr val="CFE8EF">
                <a:alpha val="55000"/>
              </a:srgbClr>
            </a:solidFill>
            <a:prstDash val="solid"/>
          </a:ln>
        </p:spPr>
        <p:txBody>
          <a:bodyPr/>
          <a:lstStyle/>
          <a:p>
            <a:endParaRPr lang="en-IN"/>
          </a:p>
        </p:txBody>
      </p:sp>
      <p:sp>
        <p:nvSpPr>
          <p:cNvPr id="19" name="Shape 13"/>
          <p:cNvSpPr/>
          <p:nvPr/>
        </p:nvSpPr>
        <p:spPr>
          <a:xfrm>
            <a:off x="9153144" y="4169664"/>
            <a:ext cx="1664208" cy="502920"/>
          </a:xfrm>
          <a:prstGeom prst="line">
            <a:avLst/>
          </a:prstGeom>
          <a:noFill/>
          <a:ln w="15875">
            <a:solidFill>
              <a:srgbClr val="CFE8EF">
                <a:alpha val="55000"/>
              </a:srgbClr>
            </a:solidFill>
            <a:prstDash val="solid"/>
          </a:ln>
        </p:spPr>
        <p:txBody>
          <a:bodyPr/>
          <a:lstStyle/>
          <a:p>
            <a:endParaRPr lang="en-IN"/>
          </a:p>
        </p:txBody>
      </p:sp>
      <p:sp>
        <p:nvSpPr>
          <p:cNvPr id="20" name="Shape 14"/>
          <p:cNvSpPr/>
          <p:nvPr/>
        </p:nvSpPr>
        <p:spPr>
          <a:xfrm>
            <a:off x="7251192" y="4471416"/>
            <a:ext cx="950976" cy="704088"/>
          </a:xfrm>
          <a:prstGeom prst="line">
            <a:avLst/>
          </a:prstGeom>
          <a:noFill/>
          <a:ln w="15875">
            <a:solidFill>
              <a:srgbClr val="CFE8EF">
                <a:alpha val="55000"/>
              </a:srgbClr>
            </a:solidFill>
            <a:prstDash val="solid"/>
          </a:ln>
        </p:spPr>
        <p:txBody>
          <a:bodyPr/>
          <a:lstStyle/>
          <a:p>
            <a:endParaRPr lang="en-IN"/>
          </a:p>
        </p:txBody>
      </p:sp>
      <p:sp>
        <p:nvSpPr>
          <p:cNvPr id="21" name="Shape 15"/>
          <p:cNvSpPr/>
          <p:nvPr/>
        </p:nvSpPr>
        <p:spPr>
          <a:xfrm>
            <a:off x="8202168" y="5175504"/>
            <a:ext cx="1901952" cy="201168"/>
          </a:xfrm>
          <a:prstGeom prst="line">
            <a:avLst/>
          </a:prstGeom>
          <a:noFill/>
          <a:ln w="15875">
            <a:solidFill>
              <a:srgbClr val="CFE8EF">
                <a:alpha val="55000"/>
              </a:srgbClr>
            </a:solidFill>
            <a:prstDash val="solid"/>
          </a:ln>
        </p:spPr>
        <p:txBody>
          <a:bodyPr/>
          <a:lstStyle/>
          <a:p>
            <a:endParaRPr lang="en-IN"/>
          </a:p>
        </p:txBody>
      </p:sp>
      <p:sp>
        <p:nvSpPr>
          <p:cNvPr id="22" name="Shape 16"/>
          <p:cNvSpPr/>
          <p:nvPr/>
        </p:nvSpPr>
        <p:spPr>
          <a:xfrm>
            <a:off x="9153144" y="4169664"/>
            <a:ext cx="950976" cy="1207008"/>
          </a:xfrm>
          <a:prstGeom prst="line">
            <a:avLst/>
          </a:prstGeom>
          <a:noFill/>
          <a:ln w="15875">
            <a:solidFill>
              <a:srgbClr val="CFE8EF">
                <a:alpha val="55000"/>
              </a:srgbClr>
            </a:solidFill>
            <a:prstDash val="solid"/>
          </a:ln>
        </p:spPr>
        <p:txBody>
          <a:bodyPr/>
          <a:lstStyle/>
          <a:p>
            <a:endParaRPr lang="en-IN"/>
          </a:p>
        </p:txBody>
      </p:sp>
      <p:sp>
        <p:nvSpPr>
          <p:cNvPr id="23" name="Shape 17"/>
          <p:cNvSpPr/>
          <p:nvPr/>
        </p:nvSpPr>
        <p:spPr>
          <a:xfrm flipH="1">
            <a:off x="7013448" y="5175504"/>
            <a:ext cx="1188720" cy="402336"/>
          </a:xfrm>
          <a:prstGeom prst="line">
            <a:avLst/>
          </a:prstGeom>
          <a:noFill/>
          <a:ln w="15875">
            <a:solidFill>
              <a:srgbClr val="CFE8EF">
                <a:alpha val="55000"/>
              </a:srgbClr>
            </a:solidFill>
            <a:prstDash val="solid"/>
          </a:ln>
        </p:spPr>
        <p:txBody>
          <a:bodyPr/>
          <a:lstStyle/>
          <a:p>
            <a:endParaRPr lang="en-IN"/>
          </a:p>
        </p:txBody>
      </p:sp>
      <p:sp>
        <p:nvSpPr>
          <p:cNvPr id="24" name="Shape 18"/>
          <p:cNvSpPr/>
          <p:nvPr/>
        </p:nvSpPr>
        <p:spPr>
          <a:xfrm flipH="1">
            <a:off x="9153144" y="5376672"/>
            <a:ext cx="950976" cy="603504"/>
          </a:xfrm>
          <a:prstGeom prst="line">
            <a:avLst/>
          </a:prstGeom>
          <a:noFill/>
          <a:ln w="15875">
            <a:solidFill>
              <a:srgbClr val="CFE8EF">
                <a:alpha val="55000"/>
              </a:srgbClr>
            </a:solidFill>
            <a:prstDash val="solid"/>
          </a:ln>
        </p:spPr>
        <p:txBody>
          <a:bodyPr/>
          <a:lstStyle/>
          <a:p>
            <a:endParaRPr lang="en-IN"/>
          </a:p>
        </p:txBody>
      </p:sp>
      <p:sp>
        <p:nvSpPr>
          <p:cNvPr id="25" name="Shape 19"/>
          <p:cNvSpPr/>
          <p:nvPr/>
        </p:nvSpPr>
        <p:spPr>
          <a:xfrm>
            <a:off x="7013448" y="5577840"/>
            <a:ext cx="2139696" cy="402336"/>
          </a:xfrm>
          <a:prstGeom prst="line">
            <a:avLst/>
          </a:prstGeom>
          <a:noFill/>
          <a:ln w="15875">
            <a:solidFill>
              <a:srgbClr val="CFE8EF">
                <a:alpha val="55000"/>
              </a:srgbClr>
            </a:solidFill>
            <a:prstDash val="solid"/>
          </a:ln>
        </p:spPr>
        <p:txBody>
          <a:bodyPr/>
          <a:lstStyle/>
          <a:p>
            <a:endParaRPr lang="en-IN"/>
          </a:p>
        </p:txBody>
      </p:sp>
      <p:sp>
        <p:nvSpPr>
          <p:cNvPr id="26" name="Shape 20"/>
          <p:cNvSpPr/>
          <p:nvPr/>
        </p:nvSpPr>
        <p:spPr>
          <a:xfrm flipH="1">
            <a:off x="10104120" y="4672584"/>
            <a:ext cx="713232" cy="704088"/>
          </a:xfrm>
          <a:prstGeom prst="line">
            <a:avLst/>
          </a:prstGeom>
          <a:noFill/>
          <a:ln w="15875">
            <a:solidFill>
              <a:srgbClr val="CFE8EF">
                <a:alpha val="55000"/>
              </a:srgbClr>
            </a:solidFill>
            <a:prstDash val="solid"/>
          </a:ln>
        </p:spPr>
        <p:txBody>
          <a:bodyPr/>
          <a:lstStyle/>
          <a:p>
            <a:endParaRPr lang="en-IN"/>
          </a:p>
        </p:txBody>
      </p:sp>
      <p:sp>
        <p:nvSpPr>
          <p:cNvPr id="27" name="Shape 21"/>
          <p:cNvSpPr/>
          <p:nvPr/>
        </p:nvSpPr>
        <p:spPr>
          <a:xfrm>
            <a:off x="7187184" y="4407408"/>
            <a:ext cx="128016" cy="128016"/>
          </a:xfrm>
          <a:prstGeom prst="ellipse">
            <a:avLst/>
          </a:prstGeom>
          <a:solidFill>
            <a:srgbClr val="1C7293"/>
          </a:solidFill>
          <a:ln w="19050">
            <a:solidFill>
              <a:srgbClr val="FFFFFF"/>
            </a:solidFill>
            <a:prstDash val="solid"/>
          </a:ln>
        </p:spPr>
        <p:txBody>
          <a:bodyPr/>
          <a:lstStyle/>
          <a:p>
            <a:endParaRPr lang="en-IN"/>
          </a:p>
        </p:txBody>
      </p:sp>
      <p:sp>
        <p:nvSpPr>
          <p:cNvPr id="28" name="Shape 22"/>
          <p:cNvSpPr/>
          <p:nvPr/>
        </p:nvSpPr>
        <p:spPr>
          <a:xfrm>
            <a:off x="9089136" y="4105656"/>
            <a:ext cx="128016" cy="128016"/>
          </a:xfrm>
          <a:prstGeom prst="ellipse">
            <a:avLst/>
          </a:prstGeom>
          <a:solidFill>
            <a:srgbClr val="1C7293"/>
          </a:solidFill>
          <a:ln w="19050">
            <a:solidFill>
              <a:srgbClr val="FFFFFF"/>
            </a:solidFill>
            <a:prstDash val="solid"/>
          </a:ln>
        </p:spPr>
        <p:txBody>
          <a:bodyPr/>
          <a:lstStyle/>
          <a:p>
            <a:endParaRPr lang="en-IN"/>
          </a:p>
        </p:txBody>
      </p:sp>
      <p:sp>
        <p:nvSpPr>
          <p:cNvPr id="29" name="Shape 23"/>
          <p:cNvSpPr/>
          <p:nvPr/>
        </p:nvSpPr>
        <p:spPr>
          <a:xfrm>
            <a:off x="10753344" y="4608576"/>
            <a:ext cx="128016" cy="128016"/>
          </a:xfrm>
          <a:prstGeom prst="ellipse">
            <a:avLst/>
          </a:prstGeom>
          <a:solidFill>
            <a:srgbClr val="1C7293"/>
          </a:solidFill>
          <a:ln w="19050">
            <a:solidFill>
              <a:srgbClr val="FFFFFF"/>
            </a:solidFill>
            <a:prstDash val="solid"/>
          </a:ln>
        </p:spPr>
        <p:txBody>
          <a:bodyPr/>
          <a:lstStyle/>
          <a:p>
            <a:endParaRPr lang="en-IN"/>
          </a:p>
        </p:txBody>
      </p:sp>
      <p:sp>
        <p:nvSpPr>
          <p:cNvPr id="30" name="Shape 24"/>
          <p:cNvSpPr/>
          <p:nvPr/>
        </p:nvSpPr>
        <p:spPr>
          <a:xfrm>
            <a:off x="8138160" y="5111496"/>
            <a:ext cx="128016" cy="128016"/>
          </a:xfrm>
          <a:prstGeom prst="ellipse">
            <a:avLst/>
          </a:prstGeom>
          <a:solidFill>
            <a:srgbClr val="1C7293"/>
          </a:solidFill>
          <a:ln w="19050">
            <a:solidFill>
              <a:srgbClr val="FFFFFF"/>
            </a:solidFill>
            <a:prstDash val="solid"/>
          </a:ln>
        </p:spPr>
        <p:txBody>
          <a:bodyPr/>
          <a:lstStyle/>
          <a:p>
            <a:endParaRPr lang="en-IN"/>
          </a:p>
        </p:txBody>
      </p:sp>
      <p:sp>
        <p:nvSpPr>
          <p:cNvPr id="31" name="Shape 25"/>
          <p:cNvSpPr/>
          <p:nvPr/>
        </p:nvSpPr>
        <p:spPr>
          <a:xfrm>
            <a:off x="10040112" y="5312664"/>
            <a:ext cx="128016" cy="128016"/>
          </a:xfrm>
          <a:prstGeom prst="ellipse">
            <a:avLst/>
          </a:prstGeom>
          <a:solidFill>
            <a:srgbClr val="1C7293"/>
          </a:solidFill>
          <a:ln w="19050">
            <a:solidFill>
              <a:srgbClr val="FFFFFF"/>
            </a:solidFill>
            <a:prstDash val="solid"/>
          </a:ln>
        </p:spPr>
        <p:txBody>
          <a:bodyPr/>
          <a:lstStyle/>
          <a:p>
            <a:endParaRPr lang="en-IN"/>
          </a:p>
        </p:txBody>
      </p:sp>
      <p:sp>
        <p:nvSpPr>
          <p:cNvPr id="32" name="Shape 26"/>
          <p:cNvSpPr/>
          <p:nvPr/>
        </p:nvSpPr>
        <p:spPr>
          <a:xfrm>
            <a:off x="6949440" y="5513832"/>
            <a:ext cx="128016" cy="128016"/>
          </a:xfrm>
          <a:prstGeom prst="ellipse">
            <a:avLst/>
          </a:prstGeom>
          <a:solidFill>
            <a:srgbClr val="1C7293"/>
          </a:solidFill>
          <a:ln w="19050">
            <a:solidFill>
              <a:srgbClr val="FFFFFF"/>
            </a:solidFill>
            <a:prstDash val="solid"/>
          </a:ln>
        </p:spPr>
        <p:txBody>
          <a:bodyPr/>
          <a:lstStyle/>
          <a:p>
            <a:endParaRPr lang="en-IN"/>
          </a:p>
        </p:txBody>
      </p:sp>
      <p:sp>
        <p:nvSpPr>
          <p:cNvPr id="33" name="Shape 27"/>
          <p:cNvSpPr/>
          <p:nvPr/>
        </p:nvSpPr>
        <p:spPr>
          <a:xfrm>
            <a:off x="9089136" y="5916168"/>
            <a:ext cx="128016" cy="128016"/>
          </a:xfrm>
          <a:prstGeom prst="ellipse">
            <a:avLst/>
          </a:prstGeom>
          <a:solidFill>
            <a:srgbClr val="1C7293"/>
          </a:solidFill>
          <a:ln w="19050">
            <a:solidFill>
              <a:srgbClr val="FFFFFF"/>
            </a:solidFill>
            <a:prstDash val="solid"/>
          </a:ln>
        </p:spPr>
        <p:txBody>
          <a:bodyPr/>
          <a:lstStyle/>
          <a:p>
            <a:endParaRPr lang="en-IN"/>
          </a:p>
        </p:txBody>
      </p:sp>
      <p:sp>
        <p:nvSpPr>
          <p:cNvPr id="34" name="Shape 28"/>
          <p:cNvSpPr/>
          <p:nvPr/>
        </p:nvSpPr>
        <p:spPr>
          <a:xfrm>
            <a:off x="6697980" y="1760220"/>
            <a:ext cx="685800" cy="685800"/>
          </a:xfrm>
          <a:prstGeom prst="ellipse">
            <a:avLst/>
          </a:prstGeom>
          <a:solidFill>
            <a:srgbClr val="1C7293"/>
          </a:solidFill>
          <a:ln/>
        </p:spPr>
        <p:txBody>
          <a:bodyPr/>
          <a:lstStyle/>
          <a:p>
            <a:endParaRPr lang="en-IN"/>
          </a:p>
        </p:txBody>
      </p:sp>
      <p:pic>
        <p:nvPicPr>
          <p:cNvPr id="35" name="Image 4" descr="icons/bulb.png"/>
          <p:cNvPicPr>
            <a:picLocks noChangeAspect="1"/>
          </p:cNvPicPr>
          <p:nvPr/>
        </p:nvPicPr>
        <p:blipFill>
          <a:blip r:embed="rId4"/>
          <a:stretch>
            <a:fillRect/>
          </a:stretch>
        </p:blipFill>
        <p:spPr>
          <a:xfrm>
            <a:off x="6852285" y="1914525"/>
            <a:ext cx="377190" cy="377190"/>
          </a:xfrm>
          <a:prstGeom prst="rect">
            <a:avLst/>
          </a:prstGeom>
        </p:spPr>
      </p:pic>
      <p:sp>
        <p:nvSpPr>
          <p:cNvPr id="36" name="Text 29"/>
          <p:cNvSpPr/>
          <p:nvPr/>
        </p:nvSpPr>
        <p:spPr>
          <a:xfrm>
            <a:off x="7498080" y="1828800"/>
            <a:ext cx="3840480" cy="54864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Unique Solution</a:t>
            </a:r>
            <a:endParaRPr lang="en-US" sz="1800" dirty="0"/>
          </a:p>
        </p:txBody>
      </p:sp>
      <p:sp>
        <p:nvSpPr>
          <p:cNvPr id="37" name="Text 30"/>
          <p:cNvSpPr/>
          <p:nvPr/>
        </p:nvSpPr>
        <p:spPr>
          <a:xfrm>
            <a:off x="6629400" y="2651760"/>
            <a:ext cx="4572000" cy="1371600"/>
          </a:xfrm>
          <a:prstGeom prst="rect">
            <a:avLst/>
          </a:prstGeom>
          <a:noFill/>
          <a:ln/>
        </p:spPr>
        <p:txBody>
          <a:bodyPr wrap="square" rtlCol="0" anchor="t"/>
          <a:lstStyle/>
          <a:p>
            <a:pPr marL="0" indent="0">
              <a:lnSpc>
                <a:spcPct val="125000"/>
              </a:lnSpc>
              <a:buNone/>
            </a:pPr>
            <a:r>
              <a:rPr lang="en-US" sz="1250" dirty="0">
                <a:solidFill>
                  <a:srgbClr val="CFE8EF"/>
                </a:solidFill>
                <a:latin typeface="Calibri" pitchFamily="34" charset="0"/>
                <a:ea typeface="Calibri" pitchFamily="34" charset="-122"/>
                <a:cs typeface="Calibri" pitchFamily="34" charset="-120"/>
              </a:rPr>
              <a:t>Unlike standard graph tools, this platform builds a weighted interaction graph — where edge strength reflects real engagement (messages, likes, comments) — and pairs community detection directly with an easy-to-read metrics dashboard (community count, size, and interaction strength) in one integrated workflow.</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flipV="1">
            <a:off x="886968" y="832104"/>
            <a:ext cx="1389888" cy="850392"/>
          </a:xfrm>
          <a:prstGeom prst="line">
            <a:avLst/>
          </a:prstGeom>
          <a:noFill/>
          <a:ln w="15875">
            <a:solidFill>
              <a:srgbClr val="CFE8EF">
                <a:alpha val="45000"/>
              </a:srgbClr>
            </a:solidFill>
            <a:prstDash val="solid"/>
          </a:ln>
        </p:spPr>
        <p:txBody>
          <a:bodyPr/>
          <a:lstStyle/>
          <a:p>
            <a:endParaRPr lang="en-IN"/>
          </a:p>
        </p:txBody>
      </p:sp>
      <p:sp>
        <p:nvSpPr>
          <p:cNvPr id="3" name="Shape 1"/>
          <p:cNvSpPr/>
          <p:nvPr/>
        </p:nvSpPr>
        <p:spPr>
          <a:xfrm>
            <a:off x="2276856" y="832104"/>
            <a:ext cx="1216152" cy="1417320"/>
          </a:xfrm>
          <a:prstGeom prst="line">
            <a:avLst/>
          </a:prstGeom>
          <a:noFill/>
          <a:ln w="15875">
            <a:solidFill>
              <a:srgbClr val="CFE8EF">
                <a:alpha val="45000"/>
              </a:srgbClr>
            </a:solidFill>
            <a:prstDash val="solid"/>
          </a:ln>
        </p:spPr>
        <p:txBody>
          <a:bodyPr/>
          <a:lstStyle/>
          <a:p>
            <a:endParaRPr lang="en-IN"/>
          </a:p>
        </p:txBody>
      </p:sp>
      <p:sp>
        <p:nvSpPr>
          <p:cNvPr id="4" name="Shape 2"/>
          <p:cNvSpPr/>
          <p:nvPr/>
        </p:nvSpPr>
        <p:spPr>
          <a:xfrm>
            <a:off x="886968" y="1682496"/>
            <a:ext cx="694944" cy="1984248"/>
          </a:xfrm>
          <a:prstGeom prst="line">
            <a:avLst/>
          </a:prstGeom>
          <a:noFill/>
          <a:ln w="15875">
            <a:solidFill>
              <a:srgbClr val="CFE8EF">
                <a:alpha val="45000"/>
              </a:srgbClr>
            </a:solidFill>
            <a:prstDash val="solid"/>
          </a:ln>
        </p:spPr>
        <p:txBody>
          <a:bodyPr/>
          <a:lstStyle/>
          <a:p>
            <a:endParaRPr lang="en-IN"/>
          </a:p>
        </p:txBody>
      </p:sp>
      <p:sp>
        <p:nvSpPr>
          <p:cNvPr id="5" name="Shape 3"/>
          <p:cNvSpPr/>
          <p:nvPr/>
        </p:nvSpPr>
        <p:spPr>
          <a:xfrm>
            <a:off x="1581912" y="3666744"/>
            <a:ext cx="1389888" cy="566928"/>
          </a:xfrm>
          <a:prstGeom prst="line">
            <a:avLst/>
          </a:prstGeom>
          <a:noFill/>
          <a:ln w="15875">
            <a:solidFill>
              <a:srgbClr val="CFE8EF">
                <a:alpha val="45000"/>
              </a:srgbClr>
            </a:solidFill>
            <a:prstDash val="solid"/>
          </a:ln>
        </p:spPr>
        <p:txBody>
          <a:bodyPr/>
          <a:lstStyle/>
          <a:p>
            <a:endParaRPr lang="en-IN"/>
          </a:p>
        </p:txBody>
      </p:sp>
      <p:sp>
        <p:nvSpPr>
          <p:cNvPr id="6" name="Shape 4"/>
          <p:cNvSpPr/>
          <p:nvPr/>
        </p:nvSpPr>
        <p:spPr>
          <a:xfrm>
            <a:off x="2276856" y="832104"/>
            <a:ext cx="694944" cy="3401568"/>
          </a:xfrm>
          <a:prstGeom prst="line">
            <a:avLst/>
          </a:prstGeom>
          <a:noFill/>
          <a:ln w="15875">
            <a:solidFill>
              <a:srgbClr val="CFE8EF">
                <a:alpha val="45000"/>
              </a:srgbClr>
            </a:solidFill>
            <a:prstDash val="solid"/>
          </a:ln>
        </p:spPr>
        <p:txBody>
          <a:bodyPr/>
          <a:lstStyle/>
          <a:p>
            <a:endParaRPr lang="en-IN"/>
          </a:p>
        </p:txBody>
      </p:sp>
      <p:sp>
        <p:nvSpPr>
          <p:cNvPr id="7" name="Shape 5"/>
          <p:cNvSpPr/>
          <p:nvPr/>
        </p:nvSpPr>
        <p:spPr>
          <a:xfrm flipH="1">
            <a:off x="713232" y="3666744"/>
            <a:ext cx="868680" cy="1133856"/>
          </a:xfrm>
          <a:prstGeom prst="line">
            <a:avLst/>
          </a:prstGeom>
          <a:noFill/>
          <a:ln w="15875">
            <a:solidFill>
              <a:srgbClr val="CFE8EF">
                <a:alpha val="45000"/>
              </a:srgbClr>
            </a:solidFill>
            <a:prstDash val="solid"/>
          </a:ln>
        </p:spPr>
        <p:txBody>
          <a:bodyPr/>
          <a:lstStyle/>
          <a:p>
            <a:endParaRPr lang="en-IN"/>
          </a:p>
        </p:txBody>
      </p:sp>
      <p:sp>
        <p:nvSpPr>
          <p:cNvPr id="8" name="Shape 6"/>
          <p:cNvSpPr/>
          <p:nvPr/>
        </p:nvSpPr>
        <p:spPr>
          <a:xfrm flipH="1">
            <a:off x="2276856" y="4233672"/>
            <a:ext cx="694944" cy="1700784"/>
          </a:xfrm>
          <a:prstGeom prst="line">
            <a:avLst/>
          </a:prstGeom>
          <a:noFill/>
          <a:ln w="15875">
            <a:solidFill>
              <a:srgbClr val="CFE8EF">
                <a:alpha val="45000"/>
              </a:srgbClr>
            </a:solidFill>
            <a:prstDash val="solid"/>
          </a:ln>
        </p:spPr>
        <p:txBody>
          <a:bodyPr/>
          <a:lstStyle/>
          <a:p>
            <a:endParaRPr lang="en-IN"/>
          </a:p>
        </p:txBody>
      </p:sp>
      <p:sp>
        <p:nvSpPr>
          <p:cNvPr id="9" name="Shape 7"/>
          <p:cNvSpPr/>
          <p:nvPr/>
        </p:nvSpPr>
        <p:spPr>
          <a:xfrm>
            <a:off x="713232" y="4800600"/>
            <a:ext cx="1563624" cy="1133856"/>
          </a:xfrm>
          <a:prstGeom prst="line">
            <a:avLst/>
          </a:prstGeom>
          <a:noFill/>
          <a:ln w="15875">
            <a:solidFill>
              <a:srgbClr val="CFE8EF">
                <a:alpha val="45000"/>
              </a:srgbClr>
            </a:solidFill>
            <a:prstDash val="solid"/>
          </a:ln>
        </p:spPr>
        <p:txBody>
          <a:bodyPr/>
          <a:lstStyle/>
          <a:p>
            <a:endParaRPr lang="en-IN"/>
          </a:p>
        </p:txBody>
      </p:sp>
      <p:sp>
        <p:nvSpPr>
          <p:cNvPr id="10" name="Shape 8"/>
          <p:cNvSpPr/>
          <p:nvPr/>
        </p:nvSpPr>
        <p:spPr>
          <a:xfrm flipH="1">
            <a:off x="2971800" y="2249424"/>
            <a:ext cx="521208" cy="1984248"/>
          </a:xfrm>
          <a:prstGeom prst="line">
            <a:avLst/>
          </a:prstGeom>
          <a:noFill/>
          <a:ln w="15875">
            <a:solidFill>
              <a:srgbClr val="CFE8EF">
                <a:alpha val="45000"/>
              </a:srgbClr>
            </a:solidFill>
            <a:prstDash val="solid"/>
          </a:ln>
        </p:spPr>
        <p:txBody>
          <a:bodyPr/>
          <a:lstStyle/>
          <a:p>
            <a:endParaRPr lang="en-IN"/>
          </a:p>
        </p:txBody>
      </p:sp>
      <p:sp>
        <p:nvSpPr>
          <p:cNvPr id="11" name="Shape 9"/>
          <p:cNvSpPr/>
          <p:nvPr/>
        </p:nvSpPr>
        <p:spPr>
          <a:xfrm>
            <a:off x="818388" y="1613916"/>
            <a:ext cx="137160" cy="137160"/>
          </a:xfrm>
          <a:prstGeom prst="ellipse">
            <a:avLst/>
          </a:prstGeom>
          <a:solidFill>
            <a:srgbClr val="1C7293"/>
          </a:solidFill>
          <a:ln w="19050">
            <a:solidFill>
              <a:srgbClr val="FFFFFF"/>
            </a:solidFill>
            <a:prstDash val="solid"/>
          </a:ln>
        </p:spPr>
        <p:txBody>
          <a:bodyPr/>
          <a:lstStyle/>
          <a:p>
            <a:endParaRPr lang="en-IN"/>
          </a:p>
        </p:txBody>
      </p:sp>
      <p:sp>
        <p:nvSpPr>
          <p:cNvPr id="12" name="Shape 10"/>
          <p:cNvSpPr/>
          <p:nvPr/>
        </p:nvSpPr>
        <p:spPr>
          <a:xfrm>
            <a:off x="2208276" y="763524"/>
            <a:ext cx="137160" cy="137160"/>
          </a:xfrm>
          <a:prstGeom prst="ellipse">
            <a:avLst/>
          </a:prstGeom>
          <a:solidFill>
            <a:srgbClr val="1C7293"/>
          </a:solidFill>
          <a:ln w="19050">
            <a:solidFill>
              <a:srgbClr val="FFFFFF"/>
            </a:solidFill>
            <a:prstDash val="solid"/>
          </a:ln>
        </p:spPr>
        <p:txBody>
          <a:bodyPr/>
          <a:lstStyle/>
          <a:p>
            <a:endParaRPr lang="en-IN"/>
          </a:p>
        </p:txBody>
      </p:sp>
      <p:sp>
        <p:nvSpPr>
          <p:cNvPr id="13" name="Shape 11"/>
          <p:cNvSpPr/>
          <p:nvPr/>
        </p:nvSpPr>
        <p:spPr>
          <a:xfrm>
            <a:off x="3424428" y="2180844"/>
            <a:ext cx="137160" cy="137160"/>
          </a:xfrm>
          <a:prstGeom prst="ellipse">
            <a:avLst/>
          </a:prstGeom>
          <a:solidFill>
            <a:srgbClr val="1C7293"/>
          </a:solidFill>
          <a:ln w="19050">
            <a:solidFill>
              <a:srgbClr val="FFFFFF"/>
            </a:solidFill>
            <a:prstDash val="solid"/>
          </a:ln>
        </p:spPr>
        <p:txBody>
          <a:bodyPr/>
          <a:lstStyle/>
          <a:p>
            <a:endParaRPr lang="en-IN"/>
          </a:p>
        </p:txBody>
      </p:sp>
      <p:sp>
        <p:nvSpPr>
          <p:cNvPr id="14" name="Shape 12"/>
          <p:cNvSpPr/>
          <p:nvPr/>
        </p:nvSpPr>
        <p:spPr>
          <a:xfrm>
            <a:off x="1513332" y="3598164"/>
            <a:ext cx="137160" cy="137160"/>
          </a:xfrm>
          <a:prstGeom prst="ellipse">
            <a:avLst/>
          </a:prstGeom>
          <a:solidFill>
            <a:srgbClr val="1C7293"/>
          </a:solidFill>
          <a:ln w="19050">
            <a:solidFill>
              <a:srgbClr val="FFFFFF"/>
            </a:solidFill>
            <a:prstDash val="solid"/>
          </a:ln>
        </p:spPr>
        <p:txBody>
          <a:bodyPr/>
          <a:lstStyle/>
          <a:p>
            <a:endParaRPr lang="en-IN"/>
          </a:p>
        </p:txBody>
      </p:sp>
      <p:sp>
        <p:nvSpPr>
          <p:cNvPr id="15" name="Shape 13"/>
          <p:cNvSpPr/>
          <p:nvPr/>
        </p:nvSpPr>
        <p:spPr>
          <a:xfrm>
            <a:off x="2903220" y="4165092"/>
            <a:ext cx="137160" cy="137160"/>
          </a:xfrm>
          <a:prstGeom prst="ellipse">
            <a:avLst/>
          </a:prstGeom>
          <a:solidFill>
            <a:srgbClr val="1C7293"/>
          </a:solidFill>
          <a:ln w="19050">
            <a:solidFill>
              <a:srgbClr val="FFFFFF"/>
            </a:solidFill>
            <a:prstDash val="solid"/>
          </a:ln>
        </p:spPr>
        <p:txBody>
          <a:bodyPr/>
          <a:lstStyle/>
          <a:p>
            <a:endParaRPr lang="en-IN"/>
          </a:p>
        </p:txBody>
      </p:sp>
      <p:sp>
        <p:nvSpPr>
          <p:cNvPr id="16" name="Shape 14"/>
          <p:cNvSpPr/>
          <p:nvPr/>
        </p:nvSpPr>
        <p:spPr>
          <a:xfrm>
            <a:off x="644652" y="4732020"/>
            <a:ext cx="137160" cy="137160"/>
          </a:xfrm>
          <a:prstGeom prst="ellipse">
            <a:avLst/>
          </a:prstGeom>
          <a:solidFill>
            <a:srgbClr val="1C7293"/>
          </a:solidFill>
          <a:ln w="19050">
            <a:solidFill>
              <a:srgbClr val="FFFFFF"/>
            </a:solidFill>
            <a:prstDash val="solid"/>
          </a:ln>
        </p:spPr>
        <p:txBody>
          <a:bodyPr/>
          <a:lstStyle/>
          <a:p>
            <a:endParaRPr lang="en-IN"/>
          </a:p>
        </p:txBody>
      </p:sp>
      <p:sp>
        <p:nvSpPr>
          <p:cNvPr id="17" name="Shape 15"/>
          <p:cNvSpPr/>
          <p:nvPr/>
        </p:nvSpPr>
        <p:spPr>
          <a:xfrm>
            <a:off x="2208276" y="5865876"/>
            <a:ext cx="137160" cy="137160"/>
          </a:xfrm>
          <a:prstGeom prst="ellipse">
            <a:avLst/>
          </a:prstGeom>
          <a:solidFill>
            <a:srgbClr val="1C7293"/>
          </a:solidFill>
          <a:ln w="19050">
            <a:solidFill>
              <a:srgbClr val="FFFFFF"/>
            </a:solidFill>
            <a:prstDash val="solid"/>
          </a:ln>
        </p:spPr>
        <p:txBody>
          <a:bodyPr/>
          <a:lstStyle/>
          <a:p>
            <a:endParaRPr lang="en-IN"/>
          </a:p>
        </p:txBody>
      </p:sp>
      <p:sp>
        <p:nvSpPr>
          <p:cNvPr id="18" name="Text 16"/>
          <p:cNvSpPr/>
          <p:nvPr/>
        </p:nvSpPr>
        <p:spPr>
          <a:xfrm>
            <a:off x="4206240" y="822960"/>
            <a:ext cx="73152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19" name="Shape 17"/>
          <p:cNvSpPr/>
          <p:nvPr/>
        </p:nvSpPr>
        <p:spPr>
          <a:xfrm>
            <a:off x="4224528" y="1463040"/>
            <a:ext cx="822960" cy="64008"/>
          </a:xfrm>
          <a:prstGeom prst="rect">
            <a:avLst/>
          </a:prstGeom>
          <a:solidFill>
            <a:srgbClr val="1C7293"/>
          </a:solidFill>
          <a:ln/>
        </p:spPr>
        <p:txBody>
          <a:bodyPr/>
          <a:lstStyle/>
          <a:p>
            <a:endParaRPr lang="en-IN"/>
          </a:p>
        </p:txBody>
      </p:sp>
      <p:sp>
        <p:nvSpPr>
          <p:cNvPr id="20" name="Text 18"/>
          <p:cNvSpPr/>
          <p:nvPr/>
        </p:nvSpPr>
        <p:spPr>
          <a:xfrm>
            <a:off x="4206240" y="1828800"/>
            <a:ext cx="7315200" cy="1188720"/>
          </a:xfrm>
          <a:prstGeom prst="rect">
            <a:avLst/>
          </a:prstGeom>
          <a:noFill/>
          <a:ln/>
        </p:spPr>
        <p:txBody>
          <a:bodyPr wrap="square" rtlCol="0" anchor="t"/>
          <a:lstStyle/>
          <a:p>
            <a:pPr marL="0" indent="0">
              <a:lnSpc>
                <a:spcPct val="130000"/>
              </a:lnSpc>
              <a:buNone/>
            </a:pPr>
            <a:r>
              <a:rPr lang="en-US" sz="1450" dirty="0">
                <a:solidFill>
                  <a:srgbClr val="CFE8EF"/>
                </a:solidFill>
                <a:latin typeface="Calibri" pitchFamily="34" charset="0"/>
                <a:ea typeface="Calibri" pitchFamily="34" charset="-122"/>
                <a:cs typeface="Calibri" pitchFamily="34" charset="-120"/>
              </a:rPr>
              <a:t>The Community Detection Platform successfully demonstrates how core DSA concepts — graphs, traversal, and clustering algorithms — can solve a real, practical problem: uncovering hidden group structures within large-scale interaction data.</a:t>
            </a:r>
            <a:endParaRPr lang="en-US" sz="1450" dirty="0"/>
          </a:p>
        </p:txBody>
      </p:sp>
      <p:sp>
        <p:nvSpPr>
          <p:cNvPr id="21" name="Shape 19"/>
          <p:cNvSpPr/>
          <p:nvPr/>
        </p:nvSpPr>
        <p:spPr>
          <a:xfrm>
            <a:off x="4251960" y="3264408"/>
            <a:ext cx="365760" cy="365760"/>
          </a:xfrm>
          <a:prstGeom prst="ellipse">
            <a:avLst/>
          </a:prstGeom>
          <a:solidFill>
            <a:srgbClr val="1C7293"/>
          </a:solidFill>
          <a:ln/>
        </p:spPr>
        <p:txBody>
          <a:bodyPr/>
          <a:lstStyle/>
          <a:p>
            <a:endParaRPr lang="en-IN"/>
          </a:p>
        </p:txBody>
      </p:sp>
      <p:pic>
        <p:nvPicPr>
          <p:cNvPr id="22" name="Image 0" descr="icons/check.png"/>
          <p:cNvPicPr>
            <a:picLocks noChangeAspect="1"/>
          </p:cNvPicPr>
          <p:nvPr/>
        </p:nvPicPr>
        <p:blipFill>
          <a:blip r:embed="rId3"/>
          <a:stretch>
            <a:fillRect/>
          </a:stretch>
        </p:blipFill>
        <p:spPr>
          <a:xfrm>
            <a:off x="4325112" y="3337560"/>
            <a:ext cx="219456" cy="219456"/>
          </a:xfrm>
          <a:prstGeom prst="rect">
            <a:avLst/>
          </a:prstGeom>
        </p:spPr>
      </p:pic>
      <p:sp>
        <p:nvSpPr>
          <p:cNvPr id="23" name="Text 20"/>
          <p:cNvSpPr/>
          <p:nvPr/>
        </p:nvSpPr>
        <p:spPr>
          <a:xfrm>
            <a:off x="4754880" y="3246120"/>
            <a:ext cx="6766560" cy="50292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Converts raw social interactions into a clear, weighted graph model</a:t>
            </a:r>
            <a:endParaRPr lang="en-US" sz="1300" dirty="0"/>
          </a:p>
        </p:txBody>
      </p:sp>
      <p:sp>
        <p:nvSpPr>
          <p:cNvPr id="24" name="Shape 21"/>
          <p:cNvSpPr/>
          <p:nvPr/>
        </p:nvSpPr>
        <p:spPr>
          <a:xfrm>
            <a:off x="4251960" y="3858768"/>
            <a:ext cx="365760" cy="365760"/>
          </a:xfrm>
          <a:prstGeom prst="ellipse">
            <a:avLst/>
          </a:prstGeom>
          <a:solidFill>
            <a:srgbClr val="1C7293"/>
          </a:solidFill>
          <a:ln/>
        </p:spPr>
        <p:txBody>
          <a:bodyPr/>
          <a:lstStyle/>
          <a:p>
            <a:endParaRPr lang="en-IN"/>
          </a:p>
        </p:txBody>
      </p:sp>
      <p:pic>
        <p:nvPicPr>
          <p:cNvPr id="25" name="Image 1" descr="icons/check.png"/>
          <p:cNvPicPr>
            <a:picLocks noChangeAspect="1"/>
          </p:cNvPicPr>
          <p:nvPr/>
        </p:nvPicPr>
        <p:blipFill>
          <a:blip r:embed="rId3"/>
          <a:stretch>
            <a:fillRect/>
          </a:stretch>
        </p:blipFill>
        <p:spPr>
          <a:xfrm>
            <a:off x="4325112" y="3931920"/>
            <a:ext cx="219456" cy="219456"/>
          </a:xfrm>
          <a:prstGeom prst="rect">
            <a:avLst/>
          </a:prstGeom>
        </p:spPr>
      </p:pic>
      <p:sp>
        <p:nvSpPr>
          <p:cNvPr id="26" name="Text 22"/>
          <p:cNvSpPr/>
          <p:nvPr/>
        </p:nvSpPr>
        <p:spPr>
          <a:xfrm>
            <a:off x="4754880" y="3840480"/>
            <a:ext cx="6766560" cy="50292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Detects meaningful communities using proven graph algorithms</a:t>
            </a:r>
            <a:endParaRPr lang="en-US" sz="1300" dirty="0"/>
          </a:p>
        </p:txBody>
      </p:sp>
      <p:sp>
        <p:nvSpPr>
          <p:cNvPr id="27" name="Shape 23"/>
          <p:cNvSpPr/>
          <p:nvPr/>
        </p:nvSpPr>
        <p:spPr>
          <a:xfrm>
            <a:off x="4251960" y="4453128"/>
            <a:ext cx="365760" cy="365760"/>
          </a:xfrm>
          <a:prstGeom prst="ellipse">
            <a:avLst/>
          </a:prstGeom>
          <a:solidFill>
            <a:srgbClr val="1C7293"/>
          </a:solidFill>
          <a:ln/>
        </p:spPr>
        <p:txBody>
          <a:bodyPr/>
          <a:lstStyle/>
          <a:p>
            <a:endParaRPr lang="en-IN"/>
          </a:p>
        </p:txBody>
      </p:sp>
      <p:pic>
        <p:nvPicPr>
          <p:cNvPr id="28" name="Image 2" descr="icons/check.png"/>
          <p:cNvPicPr>
            <a:picLocks noChangeAspect="1"/>
          </p:cNvPicPr>
          <p:nvPr/>
        </p:nvPicPr>
        <p:blipFill>
          <a:blip r:embed="rId3"/>
          <a:stretch>
            <a:fillRect/>
          </a:stretch>
        </p:blipFill>
        <p:spPr>
          <a:xfrm>
            <a:off x="4325112" y="4526280"/>
            <a:ext cx="219456" cy="219456"/>
          </a:xfrm>
          <a:prstGeom prst="rect">
            <a:avLst/>
          </a:prstGeom>
        </p:spPr>
      </p:pic>
      <p:sp>
        <p:nvSpPr>
          <p:cNvPr id="29" name="Text 24"/>
          <p:cNvSpPr/>
          <p:nvPr/>
        </p:nvSpPr>
        <p:spPr>
          <a:xfrm>
            <a:off x="4754880" y="4434840"/>
            <a:ext cx="6766560" cy="50292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Presents results through visual, metric-driven insights</a:t>
            </a:r>
            <a:endParaRPr lang="en-US" sz="1300" dirty="0"/>
          </a:p>
        </p:txBody>
      </p:sp>
      <p:sp>
        <p:nvSpPr>
          <p:cNvPr id="30" name="Shape 25"/>
          <p:cNvSpPr/>
          <p:nvPr/>
        </p:nvSpPr>
        <p:spPr>
          <a:xfrm>
            <a:off x="4251960" y="5047488"/>
            <a:ext cx="365760" cy="365760"/>
          </a:xfrm>
          <a:prstGeom prst="ellipse">
            <a:avLst/>
          </a:prstGeom>
          <a:solidFill>
            <a:srgbClr val="1C7293"/>
          </a:solidFill>
          <a:ln/>
        </p:spPr>
        <p:txBody>
          <a:bodyPr/>
          <a:lstStyle/>
          <a:p>
            <a:endParaRPr lang="en-IN"/>
          </a:p>
        </p:txBody>
      </p:sp>
      <p:pic>
        <p:nvPicPr>
          <p:cNvPr id="31" name="Image 3" descr="icons/check.png"/>
          <p:cNvPicPr>
            <a:picLocks noChangeAspect="1"/>
          </p:cNvPicPr>
          <p:nvPr/>
        </p:nvPicPr>
        <p:blipFill>
          <a:blip r:embed="rId3"/>
          <a:stretch>
            <a:fillRect/>
          </a:stretch>
        </p:blipFill>
        <p:spPr>
          <a:xfrm>
            <a:off x="4325112" y="5120640"/>
            <a:ext cx="219456" cy="219456"/>
          </a:xfrm>
          <a:prstGeom prst="rect">
            <a:avLst/>
          </a:prstGeom>
        </p:spPr>
      </p:pic>
      <p:sp>
        <p:nvSpPr>
          <p:cNvPr id="32" name="Text 26"/>
          <p:cNvSpPr/>
          <p:nvPr/>
        </p:nvSpPr>
        <p:spPr>
          <a:xfrm>
            <a:off x="4754880" y="5029200"/>
            <a:ext cx="6766560" cy="50292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Lays a strong foundation for real-world network analysis tools</a:t>
            </a:r>
            <a:endParaRPr lang="en-US" sz="1300" dirty="0"/>
          </a:p>
        </p:txBody>
      </p:sp>
      <p:sp>
        <p:nvSpPr>
          <p:cNvPr id="33" name="Text 27"/>
          <p:cNvSpPr/>
          <p:nvPr/>
        </p:nvSpPr>
        <p:spPr>
          <a:xfrm>
            <a:off x="4206240" y="5989320"/>
            <a:ext cx="5486400" cy="548640"/>
          </a:xfrm>
          <a:prstGeom prst="rect">
            <a:avLst/>
          </a:prstGeom>
          <a:noFill/>
          <a:ln/>
        </p:spPr>
        <p:txBody>
          <a:bodyPr wrap="square" rtlCol="0" anchor="ctr"/>
          <a:lstStyle/>
          <a:p>
            <a:pPr marL="0" indent="0">
              <a:buNone/>
            </a:pP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AF8AA-4B4A-25E4-CB39-3D10825117DA}"/>
            </a:ext>
          </a:extLst>
        </p:cNvPr>
        <p:cNvGrpSpPr/>
        <p:nvPr/>
      </p:nvGrpSpPr>
      <p:grpSpPr>
        <a:xfrm>
          <a:off x="0" y="0"/>
          <a:ext cx="0" cy="0"/>
          <a:chOff x="0" y="0"/>
          <a:chExt cx="0" cy="0"/>
        </a:xfrm>
      </p:grpSpPr>
      <p:sp>
        <p:nvSpPr>
          <p:cNvPr id="35" name="TextBox 34">
            <a:extLst>
              <a:ext uri="{FF2B5EF4-FFF2-40B4-BE49-F238E27FC236}">
                <a16:creationId xmlns:a16="http://schemas.microsoft.com/office/drawing/2014/main" id="{B2422110-8F2D-4452-8428-DC0B1954858C}"/>
              </a:ext>
            </a:extLst>
          </p:cNvPr>
          <p:cNvSpPr txBox="1"/>
          <p:nvPr/>
        </p:nvSpPr>
        <p:spPr>
          <a:xfrm>
            <a:off x="4301412" y="2775485"/>
            <a:ext cx="5840963" cy="984885"/>
          </a:xfrm>
          <a:prstGeom prst="rect">
            <a:avLst/>
          </a:prstGeom>
          <a:noFill/>
        </p:spPr>
        <p:txBody>
          <a:bodyPr wrap="square" rtlCol="0">
            <a:spAutoFit/>
          </a:bodyPr>
          <a:lstStyle/>
          <a:p>
            <a:r>
              <a:rPr lang="en-US" sz="4000" b="1" dirty="0"/>
              <a:t>THANK YOU</a:t>
            </a:r>
            <a:endParaRPr lang="en-IN" sz="4000" dirty="0"/>
          </a:p>
          <a:p>
            <a:endParaRPr lang="en-IN" dirty="0"/>
          </a:p>
        </p:txBody>
      </p:sp>
    </p:spTree>
    <p:extLst>
      <p:ext uri="{BB962C8B-B14F-4D97-AF65-F5344CB8AC3E}">
        <p14:creationId xmlns:p14="http://schemas.microsoft.com/office/powerpoint/2010/main" val="2661303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281</TotalTime>
  <Words>773</Words>
  <Application>Microsoft Office PowerPoint</Application>
  <PresentationFormat>Widescreen</PresentationFormat>
  <Paragraphs>110</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SNIGDHA REDDY</cp:lastModifiedBy>
  <cp:revision>5</cp:revision>
  <dcterms:created xsi:type="dcterms:W3CDTF">2026-08-18T03:05:53Z</dcterms:created>
  <dcterms:modified xsi:type="dcterms:W3CDTF">2026-09-29T03:59:55Z</dcterms:modified>
</cp:coreProperties>
</file>